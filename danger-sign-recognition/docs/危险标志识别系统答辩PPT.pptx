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9cf0a79e7447e4" /><Relationship Type="http://schemas.openxmlformats.org/officeDocument/2006/relationships/extended-properties" Target="/docProps/app.xml" Id="Rc7d5bd10648641ab" /><Relationship Type="http://schemas.openxmlformats.org/officeDocument/2006/relationships/officeDocument" Target="/ppt/presentation.xml" Id="R7d2f9c310a4141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472d962f034df2"/>
  </p:sldMasterIdLst>
  <p:notesMasterIdLst>
    <p:notesMasterId xmlns:r="http://schemas.openxmlformats.org/officeDocument/2006/relationships" r:id="Rae97b57624294e56"/>
  </p:notesMasterIdLst>
  <p:sldIdLst>
    <p:sldId xmlns:r="http://schemas.openxmlformats.org/officeDocument/2006/relationships" id="256" r:id="R268cfcf5fa934768"/>
    <p:sldId xmlns:r="http://schemas.openxmlformats.org/officeDocument/2006/relationships" id="257" r:id="R250f36b806df4985"/>
    <p:sldId xmlns:r="http://schemas.openxmlformats.org/officeDocument/2006/relationships" id="258" r:id="R9909170e6b914b40"/>
    <p:sldId xmlns:r="http://schemas.openxmlformats.org/officeDocument/2006/relationships" id="259" r:id="R0eff726a236f435b"/>
    <p:sldId xmlns:r="http://schemas.openxmlformats.org/officeDocument/2006/relationships" id="260" r:id="Rba3cac78361249d1"/>
    <p:sldId xmlns:r="http://schemas.openxmlformats.org/officeDocument/2006/relationships" id="261" r:id="R8fe7e977751e4bb8"/>
    <p:sldId xmlns:r="http://schemas.openxmlformats.org/officeDocument/2006/relationships" id="262" r:id="R46874a0dada84013"/>
    <p:sldId xmlns:r="http://schemas.openxmlformats.org/officeDocument/2006/relationships" id="263" r:id="R053be1ba3fad4575"/>
    <p:sldId xmlns:r="http://schemas.openxmlformats.org/officeDocument/2006/relationships" id="264" r:id="R7efe7447d91a4ebf"/>
    <p:sldId xmlns:r="http://schemas.openxmlformats.org/officeDocument/2006/relationships" id="265" r:id="R1d4bec3a44fe4d53"/>
    <p:sldId xmlns:r="http://schemas.openxmlformats.org/officeDocument/2006/relationships" id="266" r:id="Rd5490d10eef74556"/>
    <p:sldId xmlns:r="http://schemas.openxmlformats.org/officeDocument/2006/relationships" id="267" r:id="Rdf998a19fee840d4"/>
    <p:sldId xmlns:r="http://schemas.openxmlformats.org/officeDocument/2006/relationships" id="268" r:id="Rf2aea26250a842b4"/>
    <p:sldId xmlns:r="http://schemas.openxmlformats.org/officeDocument/2006/relationships" id="269" r:id="Ra244f108d91945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56b4e641f74151" /><Relationship Type="http://schemas.openxmlformats.org/officeDocument/2006/relationships/slideMaster" Target="/ppt/slideMasters/slideMaster1.xml" Id="R0e472d962f034df2" /><Relationship Type="http://schemas.openxmlformats.org/officeDocument/2006/relationships/notesMaster" Target="/ppt/notesMasters/notesMaster1.xml" Id="Rae97b57624294e56" /><Relationship Type="http://schemas.openxmlformats.org/officeDocument/2006/relationships/presProps" Target="/ppt/presProps.xml" Id="Ra61a86b1bed94fcd" /><Relationship Type="http://schemas.openxmlformats.org/officeDocument/2006/relationships/tableStyles" Target="/ppt/tableStyles.xml" Id="R9b5aefb323704783" /><Relationship Type="http://schemas.openxmlformats.org/officeDocument/2006/relationships/slide" Target="/ppt/slides/slide1.xml" Id="R268cfcf5fa934768" /><Relationship Type="http://schemas.openxmlformats.org/officeDocument/2006/relationships/slide" Target="/ppt/slides/slide2.xml" Id="R250f36b806df4985" /><Relationship Type="http://schemas.openxmlformats.org/officeDocument/2006/relationships/slide" Target="/ppt/slides/slide3.xml" Id="R9909170e6b914b40" /><Relationship Type="http://schemas.openxmlformats.org/officeDocument/2006/relationships/slide" Target="/ppt/slides/slide4.xml" Id="R0eff726a236f435b" /><Relationship Type="http://schemas.openxmlformats.org/officeDocument/2006/relationships/slide" Target="/ppt/slides/slide5.xml" Id="Rba3cac78361249d1" /><Relationship Type="http://schemas.openxmlformats.org/officeDocument/2006/relationships/slide" Target="/ppt/slides/slide6.xml" Id="R8fe7e977751e4bb8" /><Relationship Type="http://schemas.openxmlformats.org/officeDocument/2006/relationships/slide" Target="/ppt/slides/slide7.xml" Id="R46874a0dada84013" /><Relationship Type="http://schemas.openxmlformats.org/officeDocument/2006/relationships/slide" Target="/ppt/slides/slide8.xml" Id="R053be1ba3fad4575" /><Relationship Type="http://schemas.openxmlformats.org/officeDocument/2006/relationships/slide" Target="/ppt/slides/slide9.xml" Id="R7efe7447d91a4ebf" /><Relationship Type="http://schemas.openxmlformats.org/officeDocument/2006/relationships/slide" Target="/ppt/slides/slide10.xml" Id="R1d4bec3a44fe4d53" /><Relationship Type="http://schemas.openxmlformats.org/officeDocument/2006/relationships/slide" Target="/ppt/slides/slide11.xml" Id="Rd5490d10eef74556" /><Relationship Type="http://schemas.openxmlformats.org/officeDocument/2006/relationships/slide" Target="/ppt/slides/slide12.xml" Id="Rdf998a19fee840d4" /><Relationship Type="http://schemas.openxmlformats.org/officeDocument/2006/relationships/slide" Target="/ppt/slides/slide13.xml" Id="Rf2aea26250a842b4" /><Relationship Type="http://schemas.openxmlformats.org/officeDocument/2006/relationships/slide" Target="/ppt/slides/slide14.xml" Id="Ra244f108d91945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f4986865a34e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55a18ee33d47a0" /><Relationship Type="http://schemas.openxmlformats.org/officeDocument/2006/relationships/notesMaster" Target="/ppt/notesMasters/notesMaster1.xml" Id="R8148a61a31c143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da9a245b14463c" /><Relationship Type="http://schemas.openxmlformats.org/officeDocument/2006/relationships/notesMaster" Target="/ppt/notesMasters/notesMaster1.xml" Id="Rb5ab10e618d541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1bcd1e399e411b" /><Relationship Type="http://schemas.openxmlformats.org/officeDocument/2006/relationships/notesMaster" Target="/ppt/notesMasters/notesMaster1.xml" Id="R4787655b61aa43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5747238b99445d" /><Relationship Type="http://schemas.openxmlformats.org/officeDocument/2006/relationships/notesMaster" Target="/ppt/notesMasters/notesMaster1.xml" Id="Ra5a4893d1a9347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05e55666944b43" /><Relationship Type="http://schemas.openxmlformats.org/officeDocument/2006/relationships/notesMaster" Target="/ppt/notesMasters/notesMaster1.xml" Id="R62ab90050bcc4b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da15d6d6ed4954" /><Relationship Type="http://schemas.openxmlformats.org/officeDocument/2006/relationships/notesMaster" Target="/ppt/notesMasters/notesMaster1.xml" Id="R5af5c16c57a049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016ef99e6d4377" /><Relationship Type="http://schemas.openxmlformats.org/officeDocument/2006/relationships/notesMaster" Target="/ppt/notesMasters/notesMaster1.xml" Id="Rc66dc4f1fe7e40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a3cc3d3c7a4506" /><Relationship Type="http://schemas.openxmlformats.org/officeDocument/2006/relationships/notesMaster" Target="/ppt/notesMasters/notesMaster1.xml" Id="Rd5fae1ab31994a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3caf17927e4e7a" /><Relationship Type="http://schemas.openxmlformats.org/officeDocument/2006/relationships/notesMaster" Target="/ppt/notesMasters/notesMaster1.xml" Id="R53c5e2926b2347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8ee165e12d4387" /><Relationship Type="http://schemas.openxmlformats.org/officeDocument/2006/relationships/notesMaster" Target="/ppt/notesMasters/notesMaster1.xml" Id="R53c453ed2db141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b25f837a0a4745" /><Relationship Type="http://schemas.openxmlformats.org/officeDocument/2006/relationships/notesMaster" Target="/ppt/notesMasters/notesMaster1.xml" Id="Rc0578f5ccd3c49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39e9a4ef8e43ee" /><Relationship Type="http://schemas.openxmlformats.org/officeDocument/2006/relationships/notesMaster" Target="/ppt/notesMasters/notesMaster1.xml" Id="R36e0d830b8144e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f14a36ac1a42e6" /><Relationship Type="http://schemas.openxmlformats.org/officeDocument/2006/relationships/notesMaster" Target="/ppt/notesMasters/notesMaster1.xml" Id="R122340a10ce24f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a03b96db184ce9" /><Relationship Type="http://schemas.openxmlformats.org/officeDocument/2006/relationships/notesMaster" Target="/ppt/notesMasters/notesMaster1.xml" Id="R71ee5227f89a49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6006d441446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578799f93e43a1" /><Relationship Type="http://schemas.openxmlformats.org/officeDocument/2006/relationships/slideLayout" Target="/ppt/slideLayouts/slideLayout1.xml" Id="Ra125229e15a948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25229e15a948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e96b75a814e83" /><Relationship Type="http://schemas.openxmlformats.org/officeDocument/2006/relationships/image" Target="/ppt/media/image.jpeg" Id="R6f9116b3dee64ba1" /><Relationship Type="http://schemas.openxmlformats.org/officeDocument/2006/relationships/notesSlide" Target="/ppt/notesSlides/notesSlide1.xml" Id="Read741e4340e43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eca2d9a004834" /><Relationship Type="http://schemas.openxmlformats.org/officeDocument/2006/relationships/notesSlide" Target="/ppt/notesSlides/notesSlide2.xml" Id="R40523c6335be4d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db82363a447ba" /><Relationship Type="http://schemas.openxmlformats.org/officeDocument/2006/relationships/notesSlide" Target="/ppt/notesSlides/notesSlide3.xml" Id="R4b8eb9de6f2946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86394f3834e11" /><Relationship Type="http://schemas.openxmlformats.org/officeDocument/2006/relationships/image" Target="/ppt/media/image.png" Id="R51fbcc4a889f40bd" /><Relationship Type="http://schemas.openxmlformats.org/officeDocument/2006/relationships/image" Target="/ppt/media/image2.png" Id="Re45cd4a1888f4f44" /><Relationship Type="http://schemas.openxmlformats.org/officeDocument/2006/relationships/image" Target="/ppt/media/image3.png" Id="Rbea30f63e6b949ea" /><Relationship Type="http://schemas.openxmlformats.org/officeDocument/2006/relationships/image" Target="/ppt/media/image4.png" Id="R726c5eed66bf41d6" /><Relationship Type="http://schemas.openxmlformats.org/officeDocument/2006/relationships/image" Target="/ppt/media/image5.png" Id="R21a01bdfa1304a2b" /><Relationship Type="http://schemas.openxmlformats.org/officeDocument/2006/relationships/notesSlide" Target="/ppt/notesSlides/notesSlide4.xml" Id="Rcd720d2deae64c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80c47f67c46cc" /><Relationship Type="http://schemas.openxmlformats.org/officeDocument/2006/relationships/image" Target="/ppt/media/image2.jpeg" Id="R2b118af2101c4021" /><Relationship Type="http://schemas.openxmlformats.org/officeDocument/2006/relationships/notesSlide" Target="/ppt/notesSlides/notesSlide5.xml" Id="R20c16489255944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43228ba3a4515" /><Relationship Type="http://schemas.openxmlformats.org/officeDocument/2006/relationships/notesSlide" Target="/ppt/notesSlides/notesSlide6.xml" Id="R72c33f71a8af4e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05819bb724fc8" /><Relationship Type="http://schemas.openxmlformats.org/officeDocument/2006/relationships/notesSlide" Target="/ppt/notesSlides/notesSlide7.xml" Id="R61098b00e41e44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59de565914ad5" /><Relationship Type="http://schemas.openxmlformats.org/officeDocument/2006/relationships/notesSlide" Target="/ppt/notesSlides/notesSlide8.xml" Id="Re2217362e10f4c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62d03191c447d" /><Relationship Type="http://schemas.openxmlformats.org/officeDocument/2006/relationships/chart" Target="/ppt/slides/charts/chart1.xml" Id="R3662c63dd65e495a" /><Relationship Type="http://schemas.openxmlformats.org/officeDocument/2006/relationships/notesSlide" Target="/ppt/notesSlides/notesSlide9.xml" Id="R7ceb7d49a5214d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ba13d90344f46" /><Relationship Type="http://schemas.openxmlformats.org/officeDocument/2006/relationships/chart" Target="/ppt/slides/charts/chart2.xml" Id="R0f72cf6021c640ab" /><Relationship Type="http://schemas.openxmlformats.org/officeDocument/2006/relationships/notesSlide" Target="/ppt/notesSlides/notesSlide10.xml" Id="Ra6a4cc6c234142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1940848a340fb" /><Relationship Type="http://schemas.openxmlformats.org/officeDocument/2006/relationships/image" Target="/ppt/media/image3.jpeg" Id="R214cc2e0fb40405d" /><Relationship Type="http://schemas.openxmlformats.org/officeDocument/2006/relationships/notesSlide" Target="/ppt/notesSlides/notesSlide11.xml" Id="Rfa114cbf988642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aa71d26a8414a" /><Relationship Type="http://schemas.openxmlformats.org/officeDocument/2006/relationships/notesSlide" Target="/ppt/notesSlides/notesSlide12.xml" Id="R01b2131fc22f47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e700dbcfa4093" /><Relationship Type="http://schemas.openxmlformats.org/officeDocument/2006/relationships/notesSlide" Target="/ppt/notesSlides/notesSlide13.xml" Id="Rb709a2934eb04e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7f13bb83b4c6e" /><Relationship Type="http://schemas.openxmlformats.org/officeDocument/2006/relationships/notesSlide" Target="/ppt/notesSlides/notesSlide14.xml" Id="R028d36affa7142d9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Val Macro-F1</c:v>
          </c:tx>
          <c:spPr>
            <a:ln xmlns:a="http://schemas.openxmlformats.org/drawingml/2006/main" w="28575">
              <a:solidFill>
                <a:srgbClr val="00468C"/>
              </a:solidFill>
            </a:ln>
          </c:spPr>
          <c:marker>
            <c:symbol val="circle"/>
            <c:size val="4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</c:numLit>
          </c:cat>
          <c:val>
            <c:numLit>
              <c:formatCode>0%</c:formatCode>
              <c:ptCount val="23"/>
              <c:pt idx="0">
                <c:v>0.9602458661107975</c:v>
              </c:pt>
              <c:pt idx="1">
                <c:v>0.9762753140192153</c:v>
              </c:pt>
              <c:pt idx="2">
                <c:v>0.9882341853670795</c:v>
              </c:pt>
              <c:pt idx="3">
                <c:v>0.9891209600376195</c:v>
              </c:pt>
              <c:pt idx="4">
                <c:v>0.9900132988470842</c:v>
              </c:pt>
              <c:pt idx="5">
                <c:v>0.9900180332819246</c:v>
              </c:pt>
              <c:pt idx="6">
                <c:v>0.9882034760956013</c:v>
              </c:pt>
              <c:pt idx="7">
                <c:v>0.9792795656097532</c:v>
              </c:pt>
              <c:pt idx="8">
                <c:v>0.9900538883135859</c:v>
              </c:pt>
              <c:pt idx="9">
                <c:v>0.9936647136373958</c:v>
              </c:pt>
              <c:pt idx="10">
                <c:v>0.989180501844207</c:v>
              </c:pt>
              <c:pt idx="11">
                <c:v>0.9927601207751824</c:v>
              </c:pt>
              <c:pt idx="12">
                <c:v>0.9846530084125845</c:v>
              </c:pt>
              <c:pt idx="13">
                <c:v>0.9846309761705699</c:v>
              </c:pt>
              <c:pt idx="14">
                <c:v>0.9945615449320672</c:v>
              </c:pt>
              <c:pt idx="15">
                <c:v>0.9855621039539619</c:v>
              </c:pt>
              <c:pt idx="16">
                <c:v>0.9864588071295005</c:v>
              </c:pt>
              <c:pt idx="17">
                <c:v>0.9918749315879378</c:v>
              </c:pt>
              <c:pt idx="18">
                <c:v>0.9855354869658536</c:v>
              </c:pt>
              <c:pt idx="19">
                <c:v>0.9819388546974622</c:v>
              </c:pt>
              <c:pt idx="20">
                <c:v>0.9819510132696841</c:v>
              </c:pt>
              <c:pt idx="21">
                <c:v>0.9855347084766288</c:v>
              </c:pt>
              <c:pt idx="22">
                <c:v>0.9826921082272504</c:v>
              </c:pt>
            </c:numLit>
          </c:val>
          <c:smooth val="0"/>
        </c:ser>
        <c:ser>
          <c:idx val="1"/>
          <c:order val="1"/>
          <c:tx>
            <c:v>Train Top-1</c:v>
          </c:tx>
          <c:spPr>
            <a:ln xmlns:a="http://schemas.openxmlformats.org/drawingml/2006/main" w="19050">
              <a:solidFill>
                <a:srgbClr val="C99700"/>
              </a:solidFill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</c:numLit>
          </c:cat>
          <c:val>
            <c:numLit>
              <c:formatCode>0%</c:formatCode>
              <c:ptCount val="23"/>
              <c:pt idx="0">
                <c:v>0.5475113122171946</c:v>
              </c:pt>
              <c:pt idx="1">
                <c:v>0.7447963800904978</c:v>
              </c:pt>
              <c:pt idx="2">
                <c:v>0.7809954751131222</c:v>
              </c:pt>
              <c:pt idx="3">
                <c:v>0.8</c:v>
              </c:pt>
              <c:pt idx="4">
                <c:v>0.8108597285067873</c:v>
              </c:pt>
              <c:pt idx="5">
                <c:v>0.8180995475113122</c:v>
              </c:pt>
              <c:pt idx="6">
                <c:v>0.8153846153846154</c:v>
              </c:pt>
              <c:pt idx="7">
                <c:v>0.8217194570135746</c:v>
              </c:pt>
              <c:pt idx="8">
                <c:v>0.8262443438914027</c:v>
              </c:pt>
              <c:pt idx="9">
                <c:v>0.8361990950226245</c:v>
              </c:pt>
              <c:pt idx="10">
                <c:v>0.8479638009049774</c:v>
              </c:pt>
              <c:pt idx="11">
                <c:v>0.8506787330316742</c:v>
              </c:pt>
              <c:pt idx="12">
                <c:v>0.8515837104072398</c:v>
              </c:pt>
              <c:pt idx="13">
                <c:v>0.8407239819004525</c:v>
              </c:pt>
              <c:pt idx="14">
                <c:v>0.8479638009049774</c:v>
              </c:pt>
              <c:pt idx="15">
                <c:v>0.8280542986425339</c:v>
              </c:pt>
              <c:pt idx="16">
                <c:v>0.853393665158371</c:v>
              </c:pt>
              <c:pt idx="17">
                <c:v>0.865158371040724</c:v>
              </c:pt>
              <c:pt idx="18">
                <c:v>0.869683257918552</c:v>
              </c:pt>
              <c:pt idx="19">
                <c:v>0.857918552036199</c:v>
              </c:pt>
              <c:pt idx="20">
                <c:v>0.8687782805429864</c:v>
              </c:pt>
              <c:pt idx="21">
                <c:v>0.8570135746606334</c:v>
              </c:pt>
              <c:pt idx="22">
                <c:v>0.8570135746606334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6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.02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8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678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B6678"/>
              </a:solidFill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F1</c:v>
          </c:tx>
          <c:spPr>
            <a:solidFill xmlns:a="http://schemas.openxmlformats.org/drawingml/2006/main">
              <a:srgbClr val="00468C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爆炸危险</c:v>
              </c:pt>
              <c:pt idx="1">
                <c:v>高处坠物</c:v>
              </c:pt>
              <c:pt idx="2">
                <c:v>落石危险</c:v>
              </c:pt>
              <c:pt idx="3">
                <c:v>易燃危险</c:v>
              </c:pt>
              <c:pt idx="4">
                <c:v>水域危险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0.9885583524027459</c:v>
              </c:pt>
              <c:pt idx="2">
                <c:v>0.9977426636568849</c:v>
              </c:pt>
              <c:pt idx="3">
                <c:v>0.9977426636568849</c:v>
              </c:pt>
              <c:pt idx="4">
                <c:v>0.9887640449438202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8F0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6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03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08BF81-5881-4C57-814E-E41AF99A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DD3CE-AD3F-4A0D-A500-B5A89AC9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2A180-45AC-4379-92DF-1DF7094A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E041D-6562-4AEA-A284-7F6F2EAC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D4EC"/>
                </a:solidFill>
              </a:defRPr>
            </a:pPr>
            <a:r>
              <a:rPr sz="1350" b="1">
                <a:solidFill>
                  <a:srgbClr val="BFD4EC"/>
                </a:solidFill>
                <a:latin typeface="Microsoft YaHei"/>
                <a:ea typeface="Microsoft YaHei"/>
                <a:cs typeface="Microsoft YaHei"/>
              </a:rPr>
              <a:t>本科课程设计答辩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57464-D6D1-47CE-9B7E-D777D8AF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342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危险标志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识别系统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53C39-B6C7-4730-8A80-6AC1F525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3FF"/>
                </a:solidFill>
              </a:defRPr>
            </a:pPr>
            <a:r>
              <a:rPr sz="1650" b="0">
                <a:solidFill>
                  <a:srgbClr val="E8F3FF"/>
                </a:solidFill>
                <a:latin typeface="Microsoft YaHei"/>
                <a:ea typeface="Microsoft YaHei"/>
                <a:cs typeface="Microsoft YaHei"/>
              </a:rPr>
              <a:t>基于 EfficientNet-B0 与 ONNX Runtime Web</a:t>
            </a:r>
          </a:p>
          <a:p xmlns:a="http://schemas.openxmlformats.org/drawingml/2006/main">
            <a:pPr algn="l">
              <a:defRPr sz="1650" b="0">
                <a:solidFill>
                  <a:srgbClr val="E8F3FF"/>
                </a:solidFill>
              </a:defRPr>
            </a:pPr>
            <a:r>
              <a:rPr sz="1650" b="0">
                <a:solidFill>
                  <a:srgbClr val="E8F3FF"/>
                </a:solidFill>
                <a:latin typeface="Microsoft YaHei"/>
                <a:ea typeface="Microsoft YaHei"/>
                <a:cs typeface="Microsoft YaHei"/>
              </a:rPr>
              <a:t>的安全标志智能识别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A0CDD-6591-4F8B-A985-44334737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895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9872C-C03F-4E48-8675-E341F97E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F3FF"/>
                </a:solidFill>
              </a:defRPr>
            </a:pPr>
            <a:r>
              <a:rPr sz="1575" b="0">
                <a:solidFill>
                  <a:srgbClr val="E8F3FF"/>
                </a:solidFill>
                <a:latin typeface="Microsoft YaHei"/>
                <a:ea typeface="Microsoft YaHei"/>
                <a:cs typeface="Microsoft YaHei"/>
              </a:rPr>
              <a:t>答辩人：项目组</a:t>
            </a:r>
          </a:p>
          <a:p xmlns:a="http://schemas.openxmlformats.org/drawingml/2006/main">
            <a:pPr algn="l">
              <a:defRPr sz="1575" b="0">
                <a:solidFill>
                  <a:srgbClr val="E8F3FF"/>
                </a:solidFill>
              </a:defRPr>
            </a:pPr>
            <a:r>
              <a:rPr sz="1575" b="0">
                <a:solidFill>
                  <a:srgbClr val="E8F3FF"/>
                </a:solidFill>
                <a:latin typeface="Microsoft YaHei"/>
                <a:ea typeface="Microsoft YaHei"/>
                <a:cs typeface="Microsoft YaHei"/>
              </a:rPr>
              <a:t>指导教师：________</a:t>
            </a:r>
          </a:p>
          <a:p xmlns:a="http://schemas.openxmlformats.org/drawingml/2006/main">
            <a:pPr algn="l">
              <a:defRPr sz="1575" b="0">
                <a:solidFill>
                  <a:srgbClr val="E8F3FF"/>
                </a:solidFill>
              </a:defRPr>
            </a:pPr>
            <a:r>
              <a:rPr sz="1575" b="0">
                <a:solidFill>
                  <a:srgbClr val="E8F3FF"/>
                </a:solidFill>
                <a:latin typeface="Microsoft YaHei"/>
                <a:ea typeface="Microsoft YaHei"/>
                <a:cs typeface="Microsoft YaHei"/>
              </a:rPr>
              <a:t>时间：2026年6月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116b3dee64ba1"/>
          <a:srcRect xmlns:a="http://schemas.openxmlformats.org/drawingml/2006/main" l="11058" t="0" r="110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97155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41DF6-81DC-4508-A6F9-6861CB7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43500"/>
            <a:ext cx="1619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96428-8C89-44F1-BD78-0D0D4182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43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160DF-F4DF-4674-95A4-A539461C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530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9700"/>
                </a:solidFill>
              </a:defRPr>
            </a:pPr>
            <a:r>
              <a:rPr sz="2550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5 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305E1-0A46-4A4E-A890-1ED0D5AF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810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最终识别类别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9F5CD-02E1-4452-AE4E-8E94C4FA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4350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B72E9-414A-439B-8796-507C6548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43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885C2-4AA0-4DA2-8FD6-C39E1F28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53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68C"/>
                </a:solidFill>
              </a:defRPr>
            </a:pPr>
            <a:r>
              <a:rPr sz="25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1105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89D17-42B2-4ADD-B17C-A810A2B3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81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增强训练图像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DF589-7A9B-4E1F-8167-FE6C353D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4350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75A1C-67F6-4468-BE31-55F99393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43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8285E-31D3-4216-AD39-F8AC41C9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53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2410C"/>
                </a:solidFill>
              </a:defRPr>
            </a:pPr>
            <a:r>
              <a:rPr sz="25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99.46%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61B734-5F56-4DC7-9C9A-2125C20D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1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最佳 Macro-F1</a:t>
            </a:r>
          </a:p>
        </p:txBody>
      </p:sp>
    </p:spTree>
    <p:extLst>
      <p:ext uri="{BB962C8B-B14F-4D97-AF65-F5344CB8AC3E}">
        <p14:creationId xmlns:p14="http://schemas.microsoft.com/office/powerpoint/2010/main" val="7853211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7DE9E-E70C-4CEE-8294-EB50F233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9A3F3-1C8D-48A6-B2D4-FA50B3BC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1A4B6-B802-4C30-A73D-674D096D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DF8E7-F682-4801-9044-0265A88C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答辩内容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43C55-0459-493C-8751-A49DACA1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79D20-3329-4637-99FE-08135D28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EB15D-4F88-4E3C-8413-A88FAE21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A7F15-97C7-445E-83B1-47DA1B1F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468C"/>
                </a:solidFill>
              </a:defRPr>
            </a:pPr>
            <a:r>
              <a:rPr sz="19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48431-17B1-48AE-8D70-5E1C2034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954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3C887-C636-4167-8CEF-192D9229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33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项目背景与目标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CAB5F-B540-4F56-AAC8-3FBC1CB4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71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</a:defRPr>
            </a:pPr>
            <a:r>
              <a:rPr sz="1350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说明系统要解决的安全标志快速识别问题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E6F5C-2968-46D0-B7E5-EABB5BC4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468C"/>
                </a:solidFill>
              </a:defRPr>
            </a:pPr>
            <a:r>
              <a:rPr sz="19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09507-6E94-40E0-A523-6612C244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955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DE085-6A38-4C1D-B537-CA48369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33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数据集构建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70CA0-3808-43FF-92F9-2EACEB35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</a:defRPr>
            </a:pPr>
            <a:r>
              <a:rPr sz="1350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从附件标志出发，生成角度、光照、模糊增强样本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3236F-C108-4B2E-AFCA-C2F1A7DD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468C"/>
                </a:solidFill>
              </a:defRPr>
            </a:pPr>
            <a:r>
              <a:rPr sz="19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F3223-F81A-4B0F-8B5E-95C40620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956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E0CBC-A0F3-46E5-8275-07104906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模型训练方案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9992B-8B15-4E7D-8C80-A2C2AE54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718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</a:defRPr>
            </a:pPr>
            <a:r>
              <a:rPr sz="1350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EfficientNet-B0 迁移学习与工程化训练流程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67326-D5C7-43B9-8151-2AFF5265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468C"/>
                </a:solidFill>
              </a:defRPr>
            </a:pPr>
            <a:r>
              <a:rPr sz="19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CB026-C934-4E55-942F-BF05A3BA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957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9DF64-271E-4D9B-8750-7387AC5B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33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网页系统实现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36163-F46F-4DE7-B1F7-91FA6ED6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71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</a:defRPr>
            </a:pPr>
            <a:r>
              <a:rPr sz="1350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ONNX Runtime Web 前端推理与多输入模式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A50359-43D5-45E8-B8EE-A5152758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468C"/>
                </a:solidFill>
              </a:defRPr>
            </a:pPr>
            <a:r>
              <a:rPr sz="19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1887BB-4D64-4EAB-BE11-65FAD09A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958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12FD92-7CE5-4C19-960C-A2DC497E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33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结果分析与总结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F59770-702A-4832-9508-C59E14FD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72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</a:defRPr>
            </a:pPr>
            <a:r>
              <a:rPr sz="1350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指标、创新点、局限和后续改进</a:t>
            </a:r>
          </a:p>
        </p:txBody>
      </p:sp>
    </p:spTree>
    <p:extLst>
      <p:ext uri="{BB962C8B-B14F-4D97-AF65-F5344CB8AC3E}">
        <p14:creationId xmlns:p14="http://schemas.microsoft.com/office/powerpoint/2010/main" val="1038670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75B1C-B542-4542-98A7-F5930AE6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7F949-3BD6-49AD-A3F5-382AB75D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DBC19-5111-434C-AE1E-5B1EFD44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01 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E2B99-7D9B-436E-9F11-87525F73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项目背景与建设目标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B7F7F-9376-4B47-8B7F-553F13E9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F01E2-67E7-418A-B757-02C77642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E6222-D6ED-47F7-8BFB-6A20AF5D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E4210-B3D8-4DC4-A7DF-77241524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安全巡检场景中，危险标志通常出现在仓储、道路、施工、实验室等环境。人工识别依赖经验，面对光照、角度和视频流输入时稳定性不足。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4E62E-9B39-4105-985C-F0F811B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A5AA5-176E-433C-A427-F46D860F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567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面向 5 类附件危险标志建立可训练、可部署、可演示的识别系统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E54F1-D64E-4B16-BCDD-A7956CCA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2EBCF-98AA-4B06-A81B-7FB9E8D5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567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支持图片、视频、摄像头三种前端输入方式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689A5-A1C4-403A-AA06-59AF9164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20BBB-37F5-4728-8BE0-3D8B3FB5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567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模型能够适应拍摄角度、明暗变化、轻微模糊和背景干扰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96902-3DE9-4B1A-B40F-2DE35B7A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E0A6E-BB6D-4EF0-9F50-00090810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567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训练、评估、导出、网页推理形成完整闭环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BC1E1-DCD3-4EA1-BDA2-DD3C26FD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5CC3D-E988-4836-9FA4-306F12A6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2762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5834D-58D6-47B3-9EC9-4004E530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A1B1F-FD5A-4B6C-8A85-85109442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86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68C"/>
                </a:solidFill>
              </a:defRPr>
            </a:pPr>
            <a:r>
              <a:rPr sz="25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E0974-0B33-424B-90C8-0DBA68B2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43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附件原始类别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E353B-E9F2-400B-8ABB-5D1362D0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2762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30DC4-2416-4174-9584-C8361C8A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166DA-D8EF-4E5C-924A-DB8E2493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9700"/>
                </a:solidFill>
              </a:defRPr>
            </a:pPr>
            <a:r>
              <a:rPr sz="2550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49CDF-77F5-4063-95DC-3687E996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网页输入模式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E783F-B2BC-4E5D-8592-E9C5C9BE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387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678"/>
                </a:solidFill>
              </a:defRPr>
            </a:pPr>
            <a:r>
              <a:rPr sz="142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目标不是只做静态图片分类，而是完成一套能在浏览器中运行的识别原型。</a:t>
            </a:r>
          </a:p>
        </p:txBody>
      </p:sp>
    </p:spTree>
    <p:extLst>
      <p:ext uri="{BB962C8B-B14F-4D97-AF65-F5344CB8AC3E}">
        <p14:creationId xmlns:p14="http://schemas.microsoft.com/office/powerpoint/2010/main" val="20866817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96ACCE-C044-4293-B854-E126B61F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71C6C-0A2D-4B6E-8899-77DBAFAB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66B88-F3D1-41BF-AA80-89774374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02 CLASSES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641BF-E048-4ABA-9DA4-C0ABCCD6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识别对象与类别设计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A9207-7F79-4BCD-B18B-73C1D0D6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E68A9-9DB5-4D5A-B858-232B9995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AA23D-973F-478B-9084-01A6E79C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1CE9E-C6AD-4CBA-980B-FFF8033F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638300" cy="23812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AE148-4544-429E-A8A7-54630675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09750"/>
            <a:ext cx="1638300" cy="23812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FC074-74ED-498A-A0F6-F6FE5248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09750"/>
            <a:ext cx="1638300" cy="23812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0F276-16B0-4858-8E5C-633BC765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09750"/>
            <a:ext cx="1638300" cy="23812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04D5A-A240-44A9-B0D3-59F3FA9A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1638300" cy="23812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bcc4a889f40bd"/>
          <a:stretch xmlns:a="http://schemas.openxmlformats.org/drawingml/2006/main"/>
        </p:blipFill>
        <p:spPr>
          <a:xfrm xmlns:a="http://schemas.openxmlformats.org/drawingml/2006/main">
            <a:off x="1123950" y="20193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CD5B2-BC76-46BC-9609-C190196A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易燃危险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5758D-4113-418A-A704-7F4797F5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cd4a1888f4f44"/>
          <a:stretch xmlns:a="http://schemas.openxmlformats.org/drawingml/2006/main"/>
        </p:blipFill>
        <p:spPr>
          <a:xfrm xmlns:a="http://schemas.openxmlformats.org/drawingml/2006/main">
            <a:off x="3267075" y="20193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3C423-92A6-4133-9676-2CCBB829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09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落石危险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92849-B51B-47FE-AA42-CBDAF432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52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30f63e6b949ea"/>
          <a:stretch xmlns:a="http://schemas.openxmlformats.org/drawingml/2006/main"/>
        </p:blipFill>
        <p:spPr>
          <a:xfrm xmlns:a="http://schemas.openxmlformats.org/drawingml/2006/main">
            <a:off x="5410200" y="20193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058E5-3EAA-4561-8AAF-DB7E9C1E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09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水域危险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8D903-8BF2-480C-A98F-5B8AF9C6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52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中高风险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c5eed66bf41d6"/>
          <a:stretch xmlns:a="http://schemas.openxmlformats.org/drawingml/2006/main"/>
        </p:blipFill>
        <p:spPr>
          <a:xfrm xmlns:a="http://schemas.openxmlformats.org/drawingml/2006/main">
            <a:off x="7553325" y="20193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8975CD-03BC-42C6-83EB-5D514EAD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409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高处坠物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646A5-7E30-44A9-9E9C-80E1C51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52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01bdfa1304a2b"/>
          <a:stretch xmlns:a="http://schemas.openxmlformats.org/drawingml/2006/main"/>
        </p:blipFill>
        <p:spPr>
          <a:xfrm xmlns:a="http://schemas.openxmlformats.org/drawingml/2006/main">
            <a:off x="9696450" y="20193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AC431C-D0D2-4F70-B375-5DCCB067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09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爆炸危险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AF652-C538-4259-8C05-4A8E1165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52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410C"/>
                </a:solidFill>
              </a:defRPr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极高风险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0F9340-5BAD-49F1-88CA-B959DB3A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类别体系保持与网页前端 `SIGN_LIBRARY` 一致，避免训练标签和展示结果不匹配。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7EF8BE-EAD2-46BF-80D4-4EDA240F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91150"/>
            <a:ext cx="4191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00468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94A4B3-8B5D-40FD-836B-FE41ED52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457825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468C"/>
                </a:solidFill>
              </a:defRPr>
            </a:pPr>
            <a:r>
              <a:rPr sz="1275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爆炸 / 坠物 / 落石 / 易燃 / 水域</a:t>
            </a:r>
          </a:p>
        </p:txBody>
      </p:sp>
    </p:spTree>
    <p:extLst>
      <p:ext uri="{BB962C8B-B14F-4D97-AF65-F5344CB8AC3E}">
        <p14:creationId xmlns:p14="http://schemas.microsoft.com/office/powerpoint/2010/main" val="2387368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EB4B96-E410-4787-8BBA-899E3AE6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EE460-C34D-4079-901C-4A477C6B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5D03A-3BE7-4704-B884-24369BB9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03 DATASET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E5CF6-7BA4-4663-B81E-DB703766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数据集构建：从 5 张素材到可训练样本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C8060-BCD1-418D-A87B-12A1E0CA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7DECE-0452-460E-88A6-396F9F51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E9FEA-59D5-4A04-AF16-0DBB116D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126BB-711E-48D8-9C57-122B4329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2480A-B801-45C3-B6A3-F5EB565D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788BA-084D-4E6B-8E71-1D692ABE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68C"/>
                </a:solidFill>
              </a:defRPr>
            </a:pPr>
            <a:r>
              <a:rPr sz="25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5 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52A43-67BA-44EF-B7D3-2EB7D10A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原始附件标志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9B25E-CBF2-47C0-ADF8-AE565D99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09750"/>
            <a:ext cx="228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5E31A-0221-4B08-B47B-D65F9DF1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09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B7AF3-814B-4058-95B6-EDAAC0AA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19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9700"/>
                </a:solidFill>
              </a:defRPr>
            </a:pPr>
            <a:r>
              <a:rPr sz="2550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1105 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3C50E-7FA9-4960-9997-4B85DCD7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76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增强训练集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9BADF-7322-4B7C-90AF-1D0A3001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09750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A9E0D-8CC9-405B-8DC6-DA8F7107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09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88A00-A361-4D7C-BCD8-A8470867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19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68C"/>
                </a:solidFill>
              </a:defRPr>
            </a:pPr>
            <a:r>
              <a:rPr sz="25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400 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6B203-38D8-4A0A-AAC7-99E462B6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独立测试集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D647E-321E-4C48-BE93-E4AA3DEF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F1798-90A4-4DCE-9AAD-9B6C5486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1AA3B9-1AF0-4EE8-9722-585A7023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2410C"/>
                </a:solidFill>
              </a:defRPr>
            </a:pPr>
            <a:r>
              <a:rPr sz="25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30 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6D96B8-D613-456B-8A2D-D91BD600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前端测试照片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562D3-D058-4855-A8CA-208DC334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677EEE-019C-4500-B4BF-37CD67F1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5724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仅保留附件给出的 5 类危险标志，不随意扩充网页最终类别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BAEF48-8C4A-48BB-9C99-168424C3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2F05D-6978-41F0-86E5-88F2B702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0"/>
            <a:ext cx="5724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通过旋转、缩放、透视、亮度、对比度、模糊、阴影和背景扰动模拟真实拍摄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99D900-B097-416D-98FB-D9E9A8C9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633DFD-4EF3-4A10-B228-053765BA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5724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训练集 `dataset_viewpoint` 与测试集 `dataset_test_viewpoint` 使用不同随机种子生成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18af2101c4021"/>
          <a:srcRect xmlns:a="http://schemas.openxmlformats.org/drawingml/2006/main" l="0" t="17583" r="0" b="175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81875" y="3238500"/>
            <a:ext cx="3638550" cy="203835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DBEB2A-26EC-4E20-A1BD-8DEB7EEC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429250"/>
            <a:ext cx="363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8"/>
                </a:solidFill>
              </a:defRPr>
            </a:pPr>
            <a:r>
              <a:rPr sz="1200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前端测试照片汇总</a:t>
            </a:r>
          </a:p>
        </p:txBody>
      </p:sp>
    </p:spTree>
    <p:extLst>
      <p:ext uri="{BB962C8B-B14F-4D97-AF65-F5344CB8AC3E}">
        <p14:creationId xmlns:p14="http://schemas.microsoft.com/office/powerpoint/2010/main" val="19192957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69EF1E-50AB-46B5-A3DD-B8D49449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6AFE8-C2B2-40A6-90B6-8988FCDA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EFC96-B791-46BA-B7EC-72D648D3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04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D07C3-3DA5-428C-B13A-5A50BC7A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ADEF7-F531-4C00-AA14-5F65CD18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20A6B-7C18-4B23-BDB8-7591963E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EC9B1-7B8C-4950-981B-314B902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98602-CAF6-4C02-B380-B1EDAA63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FF585-E2C9-4438-831E-DFEDD789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468C"/>
                </a:solidFill>
              </a:defRPr>
            </a:pPr>
            <a:r>
              <a:rPr sz="1725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素材整理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FA862-7E54-4404-A028-45D9A3A3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PDF/附件标志</a:t>
            </a:r>
          </a:p>
          <a:p xmlns:a="http://schemas.openxmlformats.org/drawingml/2006/main">
            <a:pPr algn="ctr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类别目录化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714BE-2BEA-45A8-A4EC-274ECB56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098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99700"/>
                </a:solidFill>
              </a:defRPr>
            </a:pPr>
            <a:r>
              <a:rPr sz="2850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6CEEA-2F9D-4D5C-AAFE-39E89D22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288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75BF5-09BD-4EAE-A7E2-F192FDC4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468C"/>
                </a:solidFill>
              </a:defRPr>
            </a:pPr>
            <a:r>
              <a:rPr sz="1725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数据增强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7999F-0BD6-4F29-A2B5-31EDEB2D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角度、光线、背景</a:t>
            </a:r>
          </a:p>
          <a:p xmlns:a="http://schemas.openxmlformats.org/drawingml/2006/main">
            <a:pPr algn="ctr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生成训练与测试集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F9605-937E-4880-9C03-E207FDBD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98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99700"/>
                </a:solidFill>
              </a:defRPr>
            </a:pPr>
            <a:r>
              <a:rPr sz="2850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67F1E-CF0C-4CB1-B894-45E5EE1B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BF7D7-062C-460C-BFFA-5B3263C3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955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468C"/>
                </a:solidFill>
              </a:defRPr>
            </a:pPr>
            <a:r>
              <a:rPr sz="1725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0AEE5-5F20-41E6-AB57-710F4008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9085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EfficientNet-B0</a:t>
            </a:r>
          </a:p>
          <a:p xmlns:a="http://schemas.openxmlformats.org/drawingml/2006/main">
            <a:pPr algn="ctr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迁移学习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0CEA8-CD43-4156-916E-05E6DDA4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98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99700"/>
                </a:solidFill>
              </a:defRPr>
            </a:pPr>
            <a:r>
              <a:rPr sz="2850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218148-A485-4839-9418-3D818878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250E0-D25B-4308-99FE-0EA60E38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468C"/>
                </a:solidFill>
              </a:defRPr>
            </a:pPr>
            <a:r>
              <a:rPr sz="1725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模型导出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25DD9-1A29-4BFD-ACD9-29D6EB58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PyTorch checkpoint</a:t>
            </a:r>
          </a:p>
          <a:p xmlns:a="http://schemas.openxmlformats.org/drawingml/2006/main">
            <a:pPr algn="ctr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转换为 ONNX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FBB72-1AD5-40C3-9007-603873D8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98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99700"/>
                </a:solidFill>
              </a:defRPr>
            </a:pPr>
            <a:r>
              <a:rPr sz="2850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08717-8B4E-4906-83B9-1D70D493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288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10F918-B5ED-4D5D-902E-104DD738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955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468C"/>
                </a:solidFill>
              </a:defRPr>
            </a:pPr>
            <a:r>
              <a:rPr sz="1725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网页推理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F6B247-3E3B-4F8B-B4E7-FC14B957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9085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ONNX Runtime Web</a:t>
            </a:r>
          </a:p>
          <a:p xmlns:a="http://schemas.openxmlformats.org/drawingml/2006/main">
            <a:pPr algn="ctr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图片/视频/摄像头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7BB428-4C05-47BE-9C4A-D76FE7D4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核心闭环：数据构建 → 训练评估 → 模型导出 → 前端加载 → 上传测试。</a:t>
            </a:r>
          </a:p>
        </p:txBody>
      </p:sp>
    </p:spTree>
    <p:extLst>
      <p:ext uri="{BB962C8B-B14F-4D97-AF65-F5344CB8AC3E}">
        <p14:creationId xmlns:p14="http://schemas.microsoft.com/office/powerpoint/2010/main" val="6284737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B84F65-5D5B-497D-85DE-E2B1C609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D5D2D-BDF8-46FC-9BEB-5BF5FFF6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F0FEA-73F2-44BA-83FA-B1B526F1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05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56D46-015D-4FC8-9679-B76D9BDB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模型方案：EfficientNet-B0 迁移学习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6EB0F-F0C2-438E-88AC-47632441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43A71-CE71-466E-AF58-5654BCDF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B5730-F715-4679-A71A-4190D3CE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DC6E6-C815-4A2A-BC3D-D65DD662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DDAF9-C0ED-4E67-937D-7F2B01B5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7165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选择 EfficientNet-B0：在准确率和模型体积之间取得较好平衡，适合浏览器部署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80710-50EA-4D06-A852-87FCA278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92443-FF9D-4D73-BA01-D470EB9B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加载 ImageNet 预训练权重，并冻结 backbone，只训练分类头，降低小数据集过拟合风险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2A365-F9DC-4691-885D-E639B039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32913-795C-46C6-A1E0-301C06F9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训练策略包括 AdamW、CosineAnnealingLR、Label Smoothing、Dropout、Early Stopping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65C49-2D14-4A66-BB23-AE5C74F4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5D428-65AF-48FA-AF8B-01D18229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图像统一输入 224×224，导出 ONNX 后由前端运行时直接推理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8802C-F246-4899-ABB2-BE9C2D10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2952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C9B9A-3FD6-4A0E-AC7F-E1CD9959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ECC5E-1723-4579-9032-58CA040B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19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68C"/>
                </a:solidFill>
              </a:defRPr>
            </a:pPr>
            <a:r>
              <a:rPr sz="25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4.34M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9F4C9-D887-4167-82BD-C50AE24B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总参数量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381A9-8C54-4508-97B6-BB7C6F51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2952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15006-A525-40D4-ADE9-DFD8FAB1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16590-5F5B-4005-8A8D-919E96EF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33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9700"/>
                </a:solidFill>
              </a:defRPr>
            </a:pPr>
            <a:r>
              <a:rPr sz="2550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0.33M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42187-F445-4B87-B405-EF72EAA7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90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可训练参数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F99AC-D9CF-468C-B582-BFA77FDB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2952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2F8558-B96F-4FB1-AC11-3A21CCE7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338816-2979-418C-8012-EBF0E367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482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2410C"/>
                </a:solidFill>
              </a:defRPr>
            </a:pPr>
            <a:r>
              <a:rPr sz="25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16.7MB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31B453-ED9B-40AF-B6A2-5219EB24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05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估计模型大小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9C1CBC-D91A-4739-9F17-4C0FAB48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冻结参数占比约 92.4%，主要微调分类头。</a:t>
            </a:r>
          </a:p>
        </p:txBody>
      </p:sp>
    </p:spTree>
    <p:extLst>
      <p:ext uri="{BB962C8B-B14F-4D97-AF65-F5344CB8AC3E}">
        <p14:creationId xmlns:p14="http://schemas.microsoft.com/office/powerpoint/2010/main" val="16654444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DAEB73-CD9F-4C2F-9F15-375D0273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FC48F-9FE4-406E-A33D-7E52EB4F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09F4A-BB16-4832-AD87-347A5F69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06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3CD41-4AEA-4BDD-BD4C-E3D34A6F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训练工程化：多文件模块拆分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6D1D6-24F6-4FBB-ABB3-777B5FE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06706-ECDB-48D4-8426-1C32EEBB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4EC55-2FB0-465C-93F1-39D116C8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A8AB5-04F4-4EB7-8DCE-C2BE95A5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2291E-0034-4ECF-8EB8-E40575C5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FAE79-EF62-48D8-9371-9930E8A3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F72C2-57BB-4DF7-9252-9DE0381D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193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数据读取与增强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F954C-1183-4CD6-8363-0D8DE3A6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0030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datasets.py / data_audit.py</a:t>
            </a:r>
          </a:p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负责目录扫描、增强与数据质量审计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3E506-4AC5-4D17-9610-71D3F4F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36F7E-32A1-400A-B641-2936C91E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5DFB0-74E8-48EB-B373-3D45C309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B7C79-0EA4-42F0-AE69-58BA14A2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193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模型结构管理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21805-F5E3-459E-A1B8-AD19148E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030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architectures.py</a:t>
            </a:r>
          </a:p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统一 EfficientNet、ResNet、MobileNet 与 StrongCNN 构建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9C143-661E-4550-8B1F-66E2852D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F8D34-71E4-4A9C-929E-F8FDB8B6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B4DE5-9FC7-4F7E-8788-FA1A28F7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42AB6-AC73-4FB7-BBE5-B78AC7B2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193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训练过程控制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14529-D2C6-4106-B1F2-A9426655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030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training_engine.py / callbacks.py</a:t>
            </a:r>
          </a:p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封装单轮训练、验证、早停和 checkpoint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792A37-48D1-4D1B-887D-D6189CF7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7190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C89DD-10BD-4224-9847-89DEAA23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81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6448CC-CB57-47F4-ACFE-7F77F365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386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6B9D0-CD0F-4FD6-8CE6-1BD32370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指标与报告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E6146-CBE2-40D1-921A-BAFC66E3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6245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metrics.py / reporting.py</a:t>
            </a:r>
          </a:p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导出 history、混淆矩阵、模型卡片与实验报告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A91CA6-28F2-419F-AE5B-F70D7284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3333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8CE75-17CE-46B6-A2A9-6A2F8499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E4977D-D74C-4F84-B64B-5957A5D5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1F191-7982-46B8-8BF3-A9553D1B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814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部署导出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6F74B3-9A56-4EED-BFAF-B2C37F65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6245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export_onnx.py</a:t>
            </a:r>
          </a:p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将最佳 PyTorch 权重转换为网页可加载 ONNX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8180AE-612F-4799-A13E-11024BCC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拆分后的结构便于验收时说明分工：数据、模型、训练、评估、部署各有独立模块。</a:t>
            </a:r>
          </a:p>
        </p:txBody>
      </p:sp>
    </p:spTree>
    <p:extLst>
      <p:ext uri="{BB962C8B-B14F-4D97-AF65-F5344CB8AC3E}">
        <p14:creationId xmlns:p14="http://schemas.microsoft.com/office/powerpoint/2010/main" val="11105973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03DD5F-C49D-451B-AED5-A58318A6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E260E-13A4-4293-A983-3EF99C05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EE515-865D-468B-9A4D-BA82C6CD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07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049C6-F402-4A5B-8B7B-406276EA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训练结果与关键指标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C9F83-BDF5-4DA4-9E23-FDB981C7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D83FE-1D62-46CE-B23F-DBF2192D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50FB4-CB9B-4E11-918E-077373EE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6B4EA-4BD0-4394-AB72-DF67FD73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E6967-5058-46FF-A4D9-0A3D3FA6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18916-BD1A-4726-A9A2-A0A347F9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2410C"/>
                </a:solidFill>
              </a:defRPr>
            </a:pPr>
            <a:r>
              <a:rPr sz="25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99.46%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2D844-DB8E-4000-8290-C6FE64C3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最佳验证 Macro-F1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D4EB0-C046-40B9-B365-FDD238E1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90700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16D07-6259-4903-89D5-65A202E6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90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5AE71-8122-43E4-9BC3-ED8F892D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68C"/>
                </a:solidFill>
              </a:defRPr>
            </a:pPr>
            <a:r>
              <a:rPr sz="25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99.46%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6A722-1D33-468C-ACDF-C293A16E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最佳验证 Top-1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276C1-01B4-441F-B306-F09129BB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9070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3D5D7-CA6C-4D86-9089-7436FE15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90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54400-72A9-44EA-BCC2-166A70E6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9700"/>
                </a:solidFill>
              </a:defRPr>
            </a:pPr>
            <a:r>
              <a:rPr sz="2550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88436-93C6-47A5-BAE4-599833A3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验证 Top-3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4DA77-891E-409E-B92D-67BCFB9E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434D2-F536-439B-B2EC-00A5FF3E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A642E-92E1-41A9-A08E-38327ED6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68C"/>
                </a:solidFill>
              </a:defRPr>
            </a:pPr>
            <a:r>
              <a:rPr sz="25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94F8E-EFD6-449A-8802-EB3F622F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最佳 Epoch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1047750" y="3390900"/>
          <a:ext xmlns:a="http://schemas.openxmlformats.org/drawingml/2006/main" cx="952500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62c63dd65e495a"/>
          </a:graphicData>
        </a:graphic>
      </p:graphicFrame>
    </p:spTree>
    <p:extLst>
      <p:ext uri="{BB962C8B-B14F-4D97-AF65-F5344CB8AC3E}">
        <p14:creationId xmlns:p14="http://schemas.microsoft.com/office/powerpoint/2010/main" val="4503251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239D83-5B69-4234-A7CB-FDDF506C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D3162-9F37-4361-93EA-0BFDF69E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A397E-5569-480B-A918-8F720962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08 CLASS 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4D483-D9EB-4BD7-A218-2E7D7FB7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分类表现分析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20218-0CFC-4DCE-9613-1CDA5FC0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6C0C0-645B-4412-AA46-9B6E5F4A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DAC8A-1B6E-4E86-A9E3-96A87A76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47" name="Chart"/>
          <p:cNvGraphicFramePr/>
          <p:nvPr/>
        </p:nvGraphicFramePr>
        <p:xfrm>
          <a:off xmlns:a="http://schemas.openxmlformats.org/drawingml/2006/main" x="704850" y="1809750"/>
          <a:ext xmlns:a="http://schemas.openxmlformats.org/drawingml/2006/main" cx="5619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72cf6021c640a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336CD-8990-491E-BC0B-C65DEC9A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09750"/>
            <a:ext cx="365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31A52-5911-452D-89DA-C5B0DAE5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24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B55"/>
                </a:solidFill>
              </a:defRPr>
            </a:pPr>
            <a:r>
              <a:rPr sz="1350" b="1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0B89E-5CDD-4FE7-AD3C-4C5B0CFB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B55"/>
                </a:solidFill>
              </a:defRPr>
            </a:pPr>
            <a:r>
              <a:rPr sz="1350" b="1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精确率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D37B7-24AA-4857-9BA0-29334F77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24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B55"/>
                </a:solidFill>
              </a:defRPr>
            </a:pPr>
            <a:r>
              <a:rPr sz="1350" b="1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召回率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F7779-F8FE-480E-9DE9-6EE467AC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B55"/>
                </a:solidFill>
              </a:defRPr>
            </a:pPr>
            <a:r>
              <a:rPr sz="1350" b="1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CC4EB-E935-4591-B97D-96A48607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66950"/>
            <a:ext cx="365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53C8E-B96F-4DCC-8478-9E261995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907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爆炸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D5F44-AAA4-4870-BC1D-7C8B7719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907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100.0%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38088-9E76-47D5-B1CC-FF054276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907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100.0%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BE26E-76A7-4B77-87CA-8803170B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907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100.0%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66D8D-217D-4740-96D9-D93BDE07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365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6A470-5FC6-4AFC-AE43-682E62D4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479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坠物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01C26-A8F2-4250-9E00-21892146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479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100.0%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4CC44-14EE-4FD4-9E76-E7DC4572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479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97.7%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AACF7-8F9C-45D7-9B7F-A141F79B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479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98.9%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A68DC-AD99-4D13-8981-F79FF2AA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365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9171E-0BAC-42A3-89C9-2BDAEFFB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051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落石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AB2A2-10BF-4B45-A6C9-9A0A1C83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051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99.5%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CE019-DA79-40BD-94F8-0C4BAF0F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051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100.0%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88832-A32C-43F8-A5A7-E01EC874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051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99.8%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649025-5104-45D9-B9BF-C21E8AE5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38550"/>
            <a:ext cx="365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7F4449-7030-4478-9ACF-842107E9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623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易燃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B414A7-6171-40D2-B777-EAA1F718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99.5%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A7C04E-3053-4EF5-842B-7753D72A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623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100.0%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000848-1D3C-4FE4-8DDD-17078E53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623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99.8%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470164-4C64-43C7-9B83-196ADD34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365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057095-E705-43BB-952A-67C2BB46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9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水域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7FBDFE-215F-4EBC-B918-5115BF72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9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98.2%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9E0090-6ABC-4A24-A9B7-D0A85815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19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99.5%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AB4DB4-2C2A-425F-8E63-294A3371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19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2B55"/>
                </a:solidFill>
              </a:defRPr>
            </a:pPr>
            <a:r>
              <a:rPr sz="1275" b="0">
                <a:solidFill>
                  <a:srgbClr val="062B55"/>
                </a:solidFill>
                <a:latin typeface="Microsoft YaHei"/>
                <a:ea typeface="Microsoft YaHei"/>
                <a:cs typeface="Microsoft YaHei"/>
              </a:rPr>
              <a:t>98.9%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73593E-A8E1-4775-9862-9EC83D20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</a:defRPr>
            </a:pPr>
            <a:r>
              <a:rPr sz="1350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主要混淆集中在“高处坠物”和“水域危险”少量样本，后续可通过采集真实现场图继续增强泛化。</a:t>
            </a:r>
          </a:p>
        </p:txBody>
      </p:sp>
    </p:spTree>
    <p:extLst>
      <p:ext uri="{BB962C8B-B14F-4D97-AF65-F5344CB8AC3E}">
        <p14:creationId xmlns:p14="http://schemas.microsoft.com/office/powerpoint/2010/main" val="5861501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0698D6-A60B-4263-84D0-4D4F177E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86F9F-A119-4EC7-A050-3BE2B52C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22B7F-30EB-4824-A275-9A260037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09 WEB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23BD2-0B7F-485B-A150-34A85BC7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网页前端与模型部署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5A5EA-273A-474E-A64B-9E10A1B3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AD2D0-6AEC-4C8E-8F8B-955DE092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CA1A4-59EF-470A-8C2B-CEE5387F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cc2e0fb40405d"/>
          <a:srcRect xmlns:a="http://schemas.openxmlformats.org/drawingml/2006/main" l="4241" t="0" r="4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828800"/>
            <a:ext cx="3905250" cy="24003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EC352-5DAE-4BE8-ADCE-B6B6F4CB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81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094C8-A51B-4CDB-819F-21197D04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85950"/>
            <a:ext cx="558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前端采用苹果官网式极简布局，保留蓝白学术风格与清晰结果区域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F9F5A-C13D-4CFE-89E7-6DD4E7D8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82463-4D7E-48D4-8B26-CF12FC1C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19350"/>
            <a:ext cx="558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支持图片上传、视频文件检测、摄像头实时检测三种模式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7C044-6DB3-47E3-9D2C-13AC92A3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BF2C9-A289-48ED-93D4-272C0693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558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模型文件由 `model_metadata.json` 描述，自动加载 ONNX 与外部权重数据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96B8F-7403-477C-B457-BCA1A147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F431D-80A0-4B6B-964B-66FB0C84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558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 ONNX 加载失败时，保留 Canvas 特征匹配兜底逻辑，保证演示不中断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2A7C4-B8D0-4F9A-8A32-D8DEB641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7205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00468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2A335-A246-4562-8E75-5F3ED554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387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468C"/>
                </a:solidFill>
              </a:defRPr>
            </a:pPr>
            <a:r>
              <a:rPr sz="1275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ONNX Runtime Web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D80F2-463B-4D9C-AD0E-6CA3DAC7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72050"/>
            <a:ext cx="1905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0046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53E50-2D75-4ADF-9A46-50830FCC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3872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468C"/>
                </a:solidFill>
              </a:defRPr>
            </a:pPr>
            <a:r>
              <a:rPr sz="1275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本地 HTTP 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385B1-B9FA-4C15-9E46-2582E509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72050"/>
            <a:ext cx="1619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DF"/>
          </a:solidFill>
          <a:ln xmlns:a="http://schemas.openxmlformats.org/drawingml/2006/main" w="9525">
            <a:solidFill>
              <a:srgbClr val="C997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5127A-45CF-4C1E-A68E-4A54E2C1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038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99700"/>
                </a:solidFill>
              </a:defRPr>
            </a:pPr>
            <a:r>
              <a:rPr sz="1275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多输入识别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4F8D4-1F7B-415B-A1DC-DE2D315D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678"/>
                </a:solidFill>
              </a:defRPr>
            </a:pPr>
            <a:r>
              <a:rPr sz="1350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正式演示需通过 `app/start_server.ps1` 启动，避免浏览器 file:// 限制模型文件读取。</a:t>
            </a:r>
          </a:p>
        </p:txBody>
      </p:sp>
    </p:spTree>
    <p:extLst>
      <p:ext uri="{BB962C8B-B14F-4D97-AF65-F5344CB8AC3E}">
        <p14:creationId xmlns:p14="http://schemas.microsoft.com/office/powerpoint/2010/main" val="6857674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C4CFFB-86B3-493F-84F3-8D43167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36D73-C82B-4096-86A3-AB00A077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059A3-2818-4FFF-AEE5-9DB29E2B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10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8E736-0F5D-42CA-BE63-709D0155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现场演示流程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4EF5E-09CA-49C4-840B-C444EE70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27A4F-BB8C-46AE-9595-1233F93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49ED7-0DAB-4E57-9F63-81E06602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6C68E-DD65-4154-ACCF-68FF71D8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10382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C39E9-FAC6-4979-9C65-178D3608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68C"/>
                </a:solidFill>
              </a:defRPr>
            </a:pPr>
            <a:r>
              <a:rPr sz="16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启动服务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F82E6-D573-4DB7-81FF-5AC9F290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cd C:\Users\23950\Desktop\proj\danger-sign-recognition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powershell -ExecutionPolicy Bypass -File app\start_server.ps1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19221-8172-45F1-8011-D3F9FBD0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68C"/>
                </a:solidFill>
              </a:defRPr>
            </a:pPr>
            <a:r>
              <a:rPr sz="16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打开网页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56417-DDAD-418A-9B67-09616A37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http://localhost:8000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54B8D-32D1-4C9F-AC2D-ADB43EDA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9700"/>
                </a:solidFill>
              </a:defRPr>
            </a:pPr>
            <a:r>
              <a:rPr sz="1650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上传测试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7CA17-E0A9-4560-B19B-CB4DEF2E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test_inputs/frontend_photos/ 下任选 JPG 图片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EE40B-9579-4ED7-A1A5-09EFCD7E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5A659-3D48-4A55-BE6F-1D0B5280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70F5F-BE7D-4AC8-8867-1FFF3C6D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10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68C"/>
                </a:solidFill>
              </a:defRPr>
            </a:pPr>
            <a:r>
              <a:rPr sz="25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49CCE-697A-4F38-92C8-0F4B78FF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6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默认账号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0253A-83CD-4612-A1BB-76DD4326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006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4EDD3-1EFE-48FA-9E48-88BE2BA4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006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DB919F-D606-43CE-B31B-93372C62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10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9700"/>
                </a:solidFill>
              </a:defRPr>
            </a:pPr>
            <a:r>
              <a:rPr sz="2550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123456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E4BD4-2DDA-4143-A370-FA6D01E9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67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默认密码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8E224-FBCC-42A4-BD00-AE087EEA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00650"/>
            <a:ext cx="2952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1180E5-67F2-4E84-A9CB-64A30C47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006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9D4B6-1924-4C67-8A1D-51888B32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102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2410C"/>
                </a:solidFill>
              </a:defRPr>
            </a:pPr>
            <a:r>
              <a:rPr sz="25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图片 + 摄像头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3398D2-36EB-4EAC-8C41-FF79317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867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推荐演示</a:t>
            </a:r>
          </a:p>
        </p:txBody>
      </p:sp>
    </p:spTree>
    <p:extLst>
      <p:ext uri="{BB962C8B-B14F-4D97-AF65-F5344CB8AC3E}">
        <p14:creationId xmlns:p14="http://schemas.microsoft.com/office/powerpoint/2010/main" val="364021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181B35-2357-4B56-ADB1-BF678B39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CF7EE-BE1E-40CA-AEBF-07C1F7E6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4FE5E-07E0-4988-AD67-5783EDF6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11 CONTRIBUTION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AACC4-F68E-49A5-9236-ED132A95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项目工作量与创新点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708D8-809A-481B-85C0-9CF39F62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4FB7B-C49B-4606-9368-1825C61E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2783E-809E-4919-AC68-60FB7E63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B2412-983A-491E-A8B1-5B724249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716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BFD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1296D-B27F-4566-AE51-7017162D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468C"/>
                </a:solidFill>
              </a:defRPr>
            </a:pPr>
            <a:r>
              <a:rPr sz="1575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9324E-4382-408C-A564-FA7E6FF1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28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从 5 张附件标志扩展出训练集、独立测试集和前端真实场景照片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537F4-B851-4551-84E9-D919504F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8DF"/>
          </a:solidFill>
          <a:ln xmlns:a="http://schemas.openxmlformats.org/drawingml/2006/main" w="9525">
            <a:solidFill>
              <a:srgbClr val="F0DD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5DC68-0948-46BA-9985-54C048FD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9700"/>
                </a:solidFill>
              </a:defRPr>
            </a:pPr>
            <a:r>
              <a:rPr sz="1575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模型层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AE674-BC4A-48F8-8866-9CA9EFF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采用 EfficientNet-B0 迁移学习，加入多种增强、正则化和指标导出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1E72F-D4CE-41DA-AF68-F707D4BB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BFD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2CD95-CCEC-4D72-9B89-95CD60AF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468C"/>
                </a:solidFill>
              </a:defRPr>
            </a:pPr>
            <a:r>
              <a:rPr sz="1575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工程层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77072-98CA-42A6-AF5A-99F50293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训练代码拆分为数据、模型、指标、回调、报告、导出等多个模块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233E1-6ED9-4537-A1DF-70B1E74D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8DF"/>
          </a:solidFill>
          <a:ln xmlns:a="http://schemas.openxmlformats.org/drawingml/2006/main" w="9525">
            <a:solidFill>
              <a:srgbClr val="F0DD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49950-2725-44EC-87D0-2A92698E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9700"/>
                </a:solidFill>
              </a:defRPr>
            </a:pPr>
            <a:r>
              <a:rPr sz="1575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部署层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DF7D7-6A1C-4D7E-8F5C-E2EEE53F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57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PyTorch → ONNX → 浏览器推理，前端支持图片/视频/摄像头输入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C5277-928B-4170-B2F2-87F420E0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BFD4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DC816-BF33-430C-BDC8-6107B4A5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468C"/>
                </a:solidFill>
              </a:defRPr>
            </a:pPr>
            <a:r>
              <a:rPr sz="1575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展示层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C4684-FB7B-4DF3-B24F-4D0F19AE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006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生成模型卡片、实验报告、测试图片和答辩材料，形成完整项目包</a:t>
            </a:r>
          </a:p>
        </p:txBody>
      </p:sp>
    </p:spTree>
    <p:extLst>
      <p:ext uri="{BB962C8B-B14F-4D97-AF65-F5344CB8AC3E}">
        <p14:creationId xmlns:p14="http://schemas.microsoft.com/office/powerpoint/2010/main" val="4241575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439045-88AA-4E84-A562-3EB20805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56B70-5FAE-459F-AA96-BA7AB9AE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098AA-A4F0-4873-AB72-770BF15E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68C"/>
                </a:solidFill>
              </a:defRPr>
            </a:pPr>
            <a:r>
              <a:rPr sz="120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12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669ED-6926-4D9D-AA5C-A1C4EE12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总结与后续改进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49789-ED71-4EF1-BF15-4735A2B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20CBD-3FCB-4411-8AB3-403694DD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798"/>
                </a:solidFill>
              </a:defRPr>
            </a:pPr>
            <a:r>
              <a:rPr sz="1050" b="0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危险标志识别系统答辩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65D95-05A6-4C33-94DA-4B048269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C8798"/>
                </a:solidFill>
              </a:defRPr>
            </a:pPr>
            <a:r>
              <a:rPr sz="1125" b="1">
                <a:solidFill>
                  <a:srgbClr val="7C879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64113-162C-4EF9-829F-7184F10A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本项目完成了一条从素材整理、数据增强、深度学习训练、模型导出到网页端运行的完整危险标志识别流程。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59F4A-6D90-4771-B4FB-EE0711FC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2952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0DCA8-ACFB-4FC6-B77F-43AA91F8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D0BD2-575E-487E-B6DE-F23A0502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62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68C"/>
                </a:solidFill>
              </a:defRPr>
            </a:pPr>
            <a:r>
              <a:rPr sz="2550" b="1">
                <a:solidFill>
                  <a:srgbClr val="00468C"/>
                </a:solidFill>
                <a:latin typeface="Microsoft YaHei"/>
                <a:ea typeface="Microsoft YaHei"/>
                <a:cs typeface="Microsoft YaHei"/>
              </a:rPr>
              <a:t>数据→模型→网页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86A87-C839-4A2A-91D6-87B01225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19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完成闭环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D5EBD-BBD5-484D-B479-8362FEEF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952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A051C-BA05-4ADE-ACC3-7A5F5EDA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F56B0-5DCF-4AC1-AB0D-AB6DBCB6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9700"/>
                </a:solidFill>
              </a:defRPr>
            </a:pPr>
            <a:r>
              <a:rPr sz="2550" b="1">
                <a:solidFill>
                  <a:srgbClr val="C99700"/>
                </a:solidFill>
                <a:latin typeface="Microsoft YaHei"/>
                <a:ea typeface="Microsoft YaHei"/>
                <a:cs typeface="Microsoft YaHei"/>
              </a:rPr>
              <a:t>报告/模型卡/指标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C8840-9757-4D7C-94AA-68D20B0D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19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可解释交付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8C65E-A8A6-4F23-972A-9CA64728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2952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D6103-35ED-4A4D-85B7-4B0C844B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3FB77-9893-4BE9-B8F5-16065787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62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2410C"/>
                </a:solidFill>
              </a:defRPr>
            </a:pPr>
            <a:r>
              <a:rPr sz="25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真实采集/更多类别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98151-4FEF-41E7-BCF7-A831963C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</a:defRPr>
            </a:pPr>
            <a:r>
              <a:rPr sz="1275" b="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可继续扩展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BE287-588D-4D9E-94EB-D5B95DBA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2F688C-D38B-480F-A7AB-7767EBEE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62500"/>
            <a:ext cx="872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后续可补充真实现场照片，进一步验证不同设备、距离和光照条件下的鲁棒性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55838-62F5-47AE-AC5E-B627140F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EE7EB-A854-4ADA-B35C-36D7FCE0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872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可增加目标检测能力，从完整场景图中先定位标志，再做分类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95846-D910-44B1-9443-CD043D25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4FC575-AEA5-4200-8298-CECAD7FB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76900"/>
            <a:ext cx="872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可在 GPU 环境中进一步微调 backbone，提高复杂场景泛化能力</a:t>
            </a:r>
          </a:p>
        </p:txBody>
      </p:sp>
    </p:spTree>
    <p:extLst>
      <p:ext uri="{BB962C8B-B14F-4D97-AF65-F5344CB8AC3E}">
        <p14:creationId xmlns:p14="http://schemas.microsoft.com/office/powerpoint/2010/main" val="113028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2026-06-20T15:56:55.3650000Z</dcterms:created>
  <dcterms:modified xsi:type="dcterms:W3CDTF">2026-06-20T15:56:55.3650000Z</dcterms:modified>
</coreProperties>
</file>