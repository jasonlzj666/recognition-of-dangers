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192" y="6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验证 Top-1</c:v>
                </c:pt>
                <c:pt idx="1">
                  <c:v>验证 F1</c:v>
                </c:pt>
                <c:pt idx="2">
                  <c:v>测试 Top-1</c:v>
                </c:pt>
                <c:pt idx="3">
                  <c:v>前端照片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99.46</c:v>
                </c:pt>
                <c:pt idx="1">
                  <c:v>99.46</c:v>
                </c:pt>
                <c:pt idx="2">
                  <c:v>99.75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9A-4259-8818-F22538773F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98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0" y="0"/>
            <a:ext cx="4206240" cy="685800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00" b="1">
                <a:solidFill>
                  <a:srgbClr val="D8AA36"/>
                </a:solidFill>
                <a:latin typeface="Microsoft YaHei"/>
              </a:rPr>
              <a:t>TIANJIN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72768"/>
            <a:ext cx="6949440" cy="6583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Microsoft YaHei"/>
              </a:rPr>
              <a:t>危险标志识别系统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487168"/>
            <a:ext cx="6583680" cy="32918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200" b="0">
                <a:solidFill>
                  <a:srgbClr val="C9D8EA"/>
                </a:solidFill>
                <a:latin typeface="Microsoft YaHei"/>
              </a:rPr>
              <a:t>基于 EfficientNet-B0 与 Python 后端推理的安全识别平台</a:t>
            </a:r>
          </a:p>
        </p:txBody>
      </p:sp>
      <p:pic>
        <p:nvPicPr>
          <p:cNvPr id="7" name="Picture 6" descr="explo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892040"/>
            <a:ext cx="658368" cy="658368"/>
          </a:xfrm>
          <a:prstGeom prst="rect">
            <a:avLst/>
          </a:prstGeom>
        </p:spPr>
      </p:pic>
      <p:pic>
        <p:nvPicPr>
          <p:cNvPr id="8" name="Picture 7" descr="falling_obj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4892040"/>
            <a:ext cx="658368" cy="658368"/>
          </a:xfrm>
          <a:prstGeom prst="rect">
            <a:avLst/>
          </a:prstGeom>
        </p:spPr>
      </p:pic>
      <p:pic>
        <p:nvPicPr>
          <p:cNvPr id="9" name="Picture 8" descr="falling_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4892040"/>
            <a:ext cx="658368" cy="658368"/>
          </a:xfrm>
          <a:prstGeom prst="rect">
            <a:avLst/>
          </a:prstGeom>
        </p:spPr>
      </p:pic>
      <p:pic>
        <p:nvPicPr>
          <p:cNvPr id="10" name="Picture 9" descr="flamm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4892040"/>
            <a:ext cx="658368" cy="658368"/>
          </a:xfrm>
          <a:prstGeom prst="rect">
            <a:avLst/>
          </a:prstGeom>
        </p:spPr>
      </p:pic>
      <p:pic>
        <p:nvPicPr>
          <p:cNvPr id="11" name="Picture 10" descr="water_haz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4892040"/>
            <a:ext cx="658368" cy="658368"/>
          </a:xfrm>
          <a:prstGeom prst="rect">
            <a:avLst/>
          </a:prstGeom>
        </p:spPr>
      </p:pic>
      <p:pic>
        <p:nvPicPr>
          <p:cNvPr id="12" name="Picture 11" descr="explo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2084831"/>
            <a:ext cx="914400" cy="914400"/>
          </a:xfrm>
          <a:prstGeom prst="rect">
            <a:avLst/>
          </a:prstGeom>
        </p:spPr>
      </p:pic>
      <p:pic>
        <p:nvPicPr>
          <p:cNvPr id="13" name="Picture 12" descr="flamm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2743200"/>
            <a:ext cx="914400" cy="914400"/>
          </a:xfrm>
          <a:prstGeom prst="rect">
            <a:avLst/>
          </a:prstGeom>
        </p:spPr>
      </p:pic>
      <p:pic>
        <p:nvPicPr>
          <p:cNvPr id="14" name="Picture 13" descr="water_haz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7312" y="2084831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B7C7D9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B7C7D9"/>
                </a:solidFill>
                <a:latin typeface="Microsoft YaHei"/>
              </a:rPr>
              <a:t>01/16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PROJECT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365760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800" b="1">
                <a:solidFill>
                  <a:srgbClr val="121A2A"/>
                </a:solidFill>
                <a:latin typeface="Microsoft YaHei"/>
              </a:rPr>
              <a:t>一句话概括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10257680" cy="406265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1" dirty="0" err="1">
                <a:solidFill>
                  <a:srgbClr val="004B8D"/>
                </a:solidFill>
                <a:latin typeface="Microsoft YaHei"/>
              </a:rPr>
              <a:t>把附件中的</a:t>
            </a:r>
            <a:r>
              <a:rPr sz="2400" b="1" dirty="0">
                <a:solidFill>
                  <a:srgbClr val="004B8D"/>
                </a:solidFill>
                <a:latin typeface="Microsoft YaHei"/>
              </a:rPr>
              <a:t> 5 </a:t>
            </a:r>
            <a:r>
              <a:rPr sz="2400" b="1" dirty="0" err="1">
                <a:solidFill>
                  <a:srgbClr val="004B8D"/>
                </a:solidFill>
                <a:latin typeface="Microsoft YaHei"/>
              </a:rPr>
              <a:t>类危险标志，训练成一个可以在网页里实时识别的完整系统</a:t>
            </a:r>
            <a:r>
              <a:rPr sz="2400" b="1" dirty="0">
                <a:solidFill>
                  <a:srgbClr val="004B8D"/>
                </a:solidFill>
                <a:latin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27248"/>
            <a:ext cx="1920240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100" b="1">
                <a:solidFill>
                  <a:srgbClr val="004B8D"/>
                </a:solidFill>
                <a:latin typeface="Microsoft YaHei"/>
              </a:rPr>
              <a:t>5 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02736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00" b="0">
                <a:solidFill>
                  <a:srgbClr val="646F7E"/>
                </a:solidFill>
                <a:latin typeface="Microsoft YaHei"/>
              </a:rPr>
              <a:t>爆炸 / 坠物 / 落石 / 易燃 / 水域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127248"/>
            <a:ext cx="1920240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100" b="1">
                <a:solidFill>
                  <a:srgbClr val="D8AA36"/>
                </a:solidFill>
                <a:latin typeface="Microsoft YaHei"/>
              </a:rPr>
              <a:t>1105 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602736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00" b="0">
                <a:solidFill>
                  <a:srgbClr val="646F7E"/>
                </a:solidFill>
                <a:latin typeface="Microsoft YaHei"/>
              </a:rPr>
              <a:t>视角与光照增强训练集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127248"/>
            <a:ext cx="1920240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100" b="1">
                <a:solidFill>
                  <a:srgbClr val="0F765E"/>
                </a:solidFill>
                <a:latin typeface="Microsoft YaHei"/>
              </a:rPr>
              <a:t>0.9975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02736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00" b="0">
                <a:solidFill>
                  <a:srgbClr val="646F7E"/>
                </a:solidFill>
                <a:latin typeface="Microsoft YaHei"/>
              </a:rPr>
              <a:t>独立测试集 Top-1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127248"/>
            <a:ext cx="1920240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100" b="1">
                <a:solidFill>
                  <a:srgbClr val="B91C1C"/>
                </a:solidFill>
                <a:latin typeface="Microsoft YaHei"/>
              </a:rPr>
              <a:t>30/30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602736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00" b="0">
                <a:solidFill>
                  <a:srgbClr val="646F7E"/>
                </a:solidFill>
                <a:latin typeface="Microsoft YaHei"/>
              </a:rPr>
              <a:t>前端测试照片全对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9966960" cy="10058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t>• Python 前端启动时自动加载训练好的 PyTorch 模型</a:t>
            </a:r>
          </a:p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t>• 网页只负责交互，后端统一完成裁剪、归一化和推理</a:t>
            </a:r>
          </a:p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t>• 避免浏览器 ONNX Web 运行库兼容问题，演示更稳定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02/16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96926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600" b="1">
                <a:solidFill>
                  <a:srgbClr val="121A2A"/>
                </a:solidFill>
                <a:latin typeface="Microsoft YaHei"/>
              </a:rPr>
              <a:t>为什么需要自动识别危险标志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170432"/>
            <a:ext cx="713232" cy="54864"/>
          </a:xfrm>
          <a:prstGeom prst="rect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92354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800" b="0">
                <a:solidFill>
                  <a:srgbClr val="646F7E"/>
                </a:solidFill>
                <a:latin typeface="Microsoft YaHei"/>
              </a:rPr>
              <a:t>安全巡检场景中，人工观察存在效率和稳定性问题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9260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2194560" cy="292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1">
                <a:solidFill>
                  <a:srgbClr val="121A2A"/>
                </a:solidFill>
                <a:latin typeface="Microsoft YaHei"/>
              </a:rPr>
              <a:t>人工识别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2539285" cy="8115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依赖人员经验</a:t>
            </a:r>
            <a:endParaRPr sz="1400" dirty="0"/>
          </a:p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容易受疲劳和视角影响</a:t>
            </a:r>
            <a:endParaRPr sz="1400" dirty="0"/>
          </a:p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实时摄像头画面难以持续盯防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4617720" y="1828800"/>
            <a:ext cx="29260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73752" y="2084831"/>
            <a:ext cx="2194560" cy="292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1">
                <a:solidFill>
                  <a:srgbClr val="004B8D"/>
                </a:solidFill>
                <a:latin typeface="Microsoft YaHei"/>
              </a:rPr>
              <a:t>图像识别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651760"/>
            <a:ext cx="2000676" cy="8115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自动输出类别</a:t>
            </a:r>
            <a:endParaRPr sz="1400" dirty="0"/>
          </a:p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给出置信度和处置建议</a:t>
            </a:r>
            <a:endParaRPr sz="1400" dirty="0"/>
          </a:p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可接入图片和摄像头</a:t>
            </a:r>
            <a:endParaRPr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8412480" y="1828800"/>
            <a:ext cx="29260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2084831"/>
            <a:ext cx="2194560" cy="292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1">
                <a:solidFill>
                  <a:srgbClr val="D8AA36"/>
                </a:solidFill>
                <a:latin typeface="Microsoft YaHei"/>
              </a:rPr>
              <a:t>本项目目标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651760"/>
            <a:ext cx="2180212" cy="8115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做成可演示系统</a:t>
            </a:r>
            <a:endParaRPr sz="1400" dirty="0"/>
          </a:p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体现完整训练流程</a:t>
            </a:r>
            <a:endParaRPr sz="1400" dirty="0"/>
          </a:p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能够在别人电脑复现运行</a:t>
            </a:r>
            <a:endParaRPr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03/16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96926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600" b="1">
                <a:solidFill>
                  <a:srgbClr val="121A2A"/>
                </a:solidFill>
                <a:latin typeface="Microsoft YaHei"/>
              </a:rPr>
              <a:t>系统架构：浏览器采集，Python 后端推理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170432"/>
            <a:ext cx="713232" cy="54864"/>
          </a:xfrm>
          <a:prstGeom prst="rect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92354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800" b="0">
                <a:solidFill>
                  <a:srgbClr val="646F7E"/>
                </a:solidFill>
                <a:latin typeface="Microsoft YaHei"/>
              </a:rPr>
              <a:t>模型运行环境固定在 Python 侧，页面负责输入和展示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2542032"/>
            <a:ext cx="1389888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2200" b="1">
                <a:solidFill>
                  <a:srgbClr val="004B8D"/>
                </a:solidFill>
                <a:latin typeface="Microsoft YaHei"/>
              </a:rPr>
              <a:t>浏览器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898648"/>
            <a:ext cx="1389888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300" b="0">
                <a:solidFill>
                  <a:srgbClr val="646F7E"/>
                </a:solidFill>
                <a:latin typeface="Microsoft YaHei"/>
              </a:rPr>
              <a:t>图片 / 摄像头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96312" y="2724912"/>
            <a:ext cx="438912" cy="274320"/>
          </a:xfrm>
          <a:prstGeom prst="rightArrow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63240" y="233172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9544" y="2542032"/>
            <a:ext cx="1389888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2200" b="1">
                <a:solidFill>
                  <a:srgbClr val="004B8D"/>
                </a:solidFill>
                <a:latin typeface="Microsoft YaHei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2898648"/>
            <a:ext cx="1389888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300" b="0">
                <a:solidFill>
                  <a:srgbClr val="646F7E"/>
                </a:solidFill>
                <a:latin typeface="Microsoft YaHei"/>
              </a:rPr>
              <a:t>/api/predict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36592" y="2724912"/>
            <a:ext cx="438912" cy="274320"/>
          </a:xfrm>
          <a:prstGeom prst="rightArrow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03520" y="233172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49824" y="2542032"/>
            <a:ext cx="1389888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2200" b="1">
                <a:solidFill>
                  <a:srgbClr val="004B8D"/>
                </a:solidFill>
                <a:latin typeface="Microsoft YaHei"/>
              </a:rPr>
              <a:t>后端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9824" y="2898648"/>
            <a:ext cx="1389888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300" b="0">
                <a:solidFill>
                  <a:srgbClr val="646F7E"/>
                </a:solidFill>
                <a:latin typeface="Microsoft YaHei"/>
              </a:rPr>
              <a:t>裁剪 + 归一化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76872" y="2724912"/>
            <a:ext cx="438912" cy="274320"/>
          </a:xfrm>
          <a:prstGeom prst="rightArrow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543800" y="233172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0104" y="2542032"/>
            <a:ext cx="1389888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2200" b="1">
                <a:solidFill>
                  <a:srgbClr val="D8AA36"/>
                </a:solidFill>
                <a:latin typeface="Microsoft YaHei"/>
              </a:rPr>
              <a:t>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0104" y="2898648"/>
            <a:ext cx="1389888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300" b="0">
                <a:solidFill>
                  <a:srgbClr val="646F7E"/>
                </a:solidFill>
                <a:latin typeface="Microsoft YaHei"/>
              </a:rPr>
              <a:t>EfficientNet-B0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17152" y="2724912"/>
            <a:ext cx="438912" cy="274320"/>
          </a:xfrm>
          <a:prstGeom prst="rightArrow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784080" y="2331720"/>
            <a:ext cx="16916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30384" y="2542032"/>
            <a:ext cx="1389888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2200" b="1">
                <a:solidFill>
                  <a:srgbClr val="004B8D"/>
                </a:solidFill>
                <a:latin typeface="Microsoft YaHei"/>
              </a:rPr>
              <a:t>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0384" y="2898648"/>
            <a:ext cx="1389888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300" b="0">
                <a:solidFill>
                  <a:srgbClr val="646F7E"/>
                </a:solidFill>
                <a:latin typeface="Microsoft YaHei"/>
              </a:rPr>
              <a:t>类别 + 置信度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7993" y="4389120"/>
            <a:ext cx="5354093" cy="3139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b="1" dirty="0" err="1">
                <a:solidFill>
                  <a:srgbClr val="121A2A"/>
                </a:solidFill>
                <a:latin typeface="Microsoft YaHei"/>
              </a:rPr>
              <a:t>系统启动时自动加载</a:t>
            </a:r>
            <a:r>
              <a:rPr b="1" dirty="0">
                <a:solidFill>
                  <a:srgbClr val="121A2A"/>
                </a:solidFill>
                <a:latin typeface="Microsoft YaHei"/>
              </a:rPr>
              <a:t> best_danger_sign_model.p</a:t>
            </a:r>
            <a:r>
              <a:rPr lang="en-US" altLang="zh-CN" b="1" dirty="0">
                <a:solidFill>
                  <a:srgbClr val="121A2A"/>
                </a:solidFill>
                <a:latin typeface="Microsoft YaHei"/>
              </a:rPr>
              <a:t>t</a:t>
            </a:r>
            <a:endParaRPr b="1" dirty="0">
              <a:solidFill>
                <a:srgbClr val="121A2A"/>
              </a:solidFill>
              <a:latin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04/16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96926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600" b="1">
                <a:solidFill>
                  <a:srgbClr val="121A2A"/>
                </a:solidFill>
                <a:latin typeface="Microsoft YaHei"/>
              </a:rPr>
              <a:t>数据集建设：从标准素材到可泛化样本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170432"/>
            <a:ext cx="713232" cy="54864"/>
          </a:xfrm>
          <a:prstGeom prst="rect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92354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800" b="0">
                <a:solidFill>
                  <a:srgbClr val="646F7E"/>
                </a:solidFill>
                <a:latin typeface="Microsoft YaHei"/>
              </a:rPr>
              <a:t>增强数据模拟角度、光照、阴影和背景变化</a:t>
            </a:r>
          </a:p>
        </p:txBody>
      </p:sp>
      <p:pic>
        <p:nvPicPr>
          <p:cNvPr id="7" name="Picture 6" descr="_contact_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186" y="1828800"/>
            <a:ext cx="3492186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828800"/>
            <a:ext cx="3474720" cy="32004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700" b="1">
                <a:solidFill>
                  <a:srgbClr val="121A2A"/>
                </a:solidFill>
                <a:latin typeface="Microsoft YaHei"/>
              </a:rPr>
              <a:t>训练集设计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395728"/>
            <a:ext cx="5594480" cy="12449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600" dirty="0"/>
              <a:t>• </a:t>
            </a:r>
            <a:r>
              <a:rPr sz="1600" dirty="0" err="1"/>
              <a:t>基础数据来自附件</a:t>
            </a:r>
            <a:r>
              <a:rPr sz="1600" dirty="0"/>
              <a:t>/PDF </a:t>
            </a:r>
            <a:r>
              <a:rPr sz="1600" dirty="0" err="1"/>
              <a:t>中的</a:t>
            </a:r>
            <a:r>
              <a:rPr sz="1600" dirty="0"/>
              <a:t> 5 </a:t>
            </a:r>
            <a:r>
              <a:rPr sz="1600" dirty="0" err="1"/>
              <a:t>类危险标志</a:t>
            </a:r>
            <a:endParaRPr sz="1600" dirty="0"/>
          </a:p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600" dirty="0"/>
              <a:t>• </a:t>
            </a:r>
            <a:r>
              <a:rPr sz="1600" dirty="0" err="1"/>
              <a:t>dataset_viewpoint</a:t>
            </a:r>
            <a:r>
              <a:rPr sz="1600" dirty="0"/>
              <a:t> </a:t>
            </a:r>
            <a:r>
              <a:rPr sz="1600" dirty="0" err="1"/>
              <a:t>通过程序生成</a:t>
            </a:r>
            <a:r>
              <a:rPr sz="1600" dirty="0"/>
              <a:t> 1105 </a:t>
            </a:r>
            <a:r>
              <a:rPr sz="1600" dirty="0" err="1"/>
              <a:t>张增强样本</a:t>
            </a:r>
            <a:endParaRPr sz="1600" dirty="0"/>
          </a:p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600" dirty="0"/>
              <a:t>• </a:t>
            </a:r>
            <a:r>
              <a:rPr sz="1600" dirty="0" err="1"/>
              <a:t>dataset_test_viewpoint</a:t>
            </a:r>
            <a:r>
              <a:rPr sz="1600" dirty="0"/>
              <a:t> </a:t>
            </a:r>
            <a:r>
              <a:rPr sz="1600" dirty="0" err="1"/>
              <a:t>使用不同随机种子生成独立测试集</a:t>
            </a:r>
            <a:endParaRPr sz="1600" dirty="0"/>
          </a:p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600" dirty="0"/>
              <a:t>• </a:t>
            </a:r>
            <a:r>
              <a:rPr sz="1600" dirty="0" err="1"/>
              <a:t>前端照片测试集模拟不同背景和拍摄角度</a:t>
            </a:r>
            <a:endParaRPr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6492240" y="4892040"/>
            <a:ext cx="1920240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100" b="1">
                <a:solidFill>
                  <a:srgbClr val="004B8D"/>
                </a:solidFill>
                <a:latin typeface="Microsoft YaHei"/>
              </a:rPr>
              <a:t>1105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367527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00" b="0">
                <a:solidFill>
                  <a:srgbClr val="646F7E"/>
                </a:solidFill>
                <a:latin typeface="Microsoft YaHei"/>
              </a:rPr>
              <a:t>训练增强样本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892040"/>
            <a:ext cx="1920240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100" b="1">
                <a:solidFill>
                  <a:srgbClr val="D8AA36"/>
                </a:solidFill>
                <a:latin typeface="Microsoft YaHei"/>
              </a:rPr>
              <a:t>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367527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00" b="0" dirty="0" err="1">
                <a:solidFill>
                  <a:srgbClr val="646F7E"/>
                </a:solidFill>
                <a:latin typeface="Microsoft YaHei"/>
              </a:rPr>
              <a:t>独立测试样本</a:t>
            </a:r>
            <a:endParaRPr sz="1300" b="0" dirty="0">
              <a:solidFill>
                <a:srgbClr val="646F7E"/>
              </a:solidFill>
              <a:latin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05/16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96926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600" b="1">
                <a:solidFill>
                  <a:srgbClr val="121A2A"/>
                </a:solidFill>
                <a:latin typeface="Microsoft YaHei"/>
              </a:rPr>
              <a:t>模型方案：EfficientNet-B0 迁移学习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170432"/>
            <a:ext cx="713232" cy="54864"/>
          </a:xfrm>
          <a:prstGeom prst="rect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92354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800" b="0">
                <a:solidFill>
                  <a:srgbClr val="646F7E"/>
                </a:solidFill>
                <a:latin typeface="Microsoft YaHei"/>
              </a:rPr>
              <a:t>小样本场景下，用预训练特征降低训练难度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48006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4023360" cy="32004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500" b="1">
                <a:solidFill>
                  <a:srgbClr val="004B8D"/>
                </a:solidFill>
                <a:latin typeface="Microsoft YaHei"/>
              </a:rPr>
              <a:t>为什么选择 EfficientNet-B0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761488"/>
            <a:ext cx="4205447" cy="8115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参数规模适中，适合课程项目和</a:t>
            </a:r>
            <a:r>
              <a:rPr sz="1400" dirty="0"/>
              <a:t> CPU </a:t>
            </a:r>
            <a:r>
              <a:rPr sz="1400" dirty="0" err="1"/>
              <a:t>演示</a:t>
            </a:r>
            <a:endParaRPr sz="1400" dirty="0"/>
          </a:p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预训练特征对标志图形识别有帮助</a:t>
            </a:r>
            <a:endParaRPr sz="1400" dirty="0"/>
          </a:p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冻结</a:t>
            </a:r>
            <a:r>
              <a:rPr sz="1400" dirty="0"/>
              <a:t> backbone </a:t>
            </a:r>
            <a:r>
              <a:rPr sz="1400" dirty="0" err="1"/>
              <a:t>后只训练分类头，降低过拟合风险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48006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3840480" cy="32004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500" b="1">
                <a:solidFill>
                  <a:srgbClr val="D8AA36"/>
                </a:solidFill>
                <a:latin typeface="Microsoft YaHei"/>
              </a:rPr>
              <a:t>模型规模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788920"/>
            <a:ext cx="1920240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100" b="1">
                <a:solidFill>
                  <a:srgbClr val="004B8D"/>
                </a:solidFill>
                <a:latin typeface="Microsoft YaHei"/>
              </a:rPr>
              <a:t>4.34M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264408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00" b="0">
                <a:solidFill>
                  <a:srgbClr val="646F7E"/>
                </a:solidFill>
                <a:latin typeface="Microsoft YaHei"/>
              </a:rPr>
              <a:t>总参数量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788920"/>
            <a:ext cx="1920240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100" b="1">
                <a:solidFill>
                  <a:srgbClr val="D8AA36"/>
                </a:solidFill>
                <a:latin typeface="Microsoft YaHei"/>
              </a:rPr>
              <a:t>0.33M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264408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00" b="0">
                <a:solidFill>
                  <a:srgbClr val="646F7E"/>
                </a:solidFill>
                <a:latin typeface="Microsoft YaHei"/>
              </a:rPr>
              <a:t>可训练参数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069080"/>
            <a:ext cx="1920240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100" b="1">
                <a:solidFill>
                  <a:srgbClr val="0F765E"/>
                </a:solidFill>
                <a:latin typeface="Microsoft YaHei"/>
              </a:rPr>
              <a:t>16.7MB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544568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00" b="0">
                <a:solidFill>
                  <a:srgbClr val="646F7E"/>
                </a:solidFill>
                <a:latin typeface="Microsoft YaHei"/>
              </a:rPr>
              <a:t>模型大小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069080"/>
            <a:ext cx="1920240" cy="43891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100" b="1">
                <a:solidFill>
                  <a:srgbClr val="B91C1C"/>
                </a:solidFill>
                <a:latin typeface="Microsoft YaHei"/>
              </a:rPr>
              <a:t>7.59%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4544568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00" b="0">
                <a:solidFill>
                  <a:srgbClr val="646F7E"/>
                </a:solidFill>
                <a:latin typeface="Microsoft YaHei"/>
              </a:rPr>
              <a:t>训练参数占比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06/16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96926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600" b="1">
                <a:solidFill>
                  <a:srgbClr val="121A2A"/>
                </a:solidFill>
                <a:latin typeface="Microsoft YaHei"/>
              </a:rPr>
              <a:t>训练过程：完整工程化管线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170432"/>
            <a:ext cx="713232" cy="54864"/>
          </a:xfrm>
          <a:prstGeom prst="rect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92354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800" b="0">
                <a:solidFill>
                  <a:srgbClr val="646F7E"/>
                </a:solidFill>
                <a:latin typeface="Microsoft YaHei"/>
              </a:rPr>
              <a:t>不仅训练模型，还输出审计、历史、评估和模型卡片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4389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039112"/>
            <a:ext cx="164592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100" b="1">
                <a:solidFill>
                  <a:srgbClr val="004B8D"/>
                </a:solidFill>
                <a:latin typeface="Microsoft YaHei"/>
              </a:rPr>
              <a:t>数据增强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57400"/>
            <a:ext cx="2181751" cy="52937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400" b="0" dirty="0" err="1">
                <a:solidFill>
                  <a:srgbClr val="646F7E"/>
                </a:solidFill>
                <a:latin typeface="Microsoft YaHei"/>
              </a:rPr>
              <a:t>RandAu</a:t>
            </a:r>
            <a:r>
              <a:rPr sz="1600" b="0" dirty="0" err="1">
                <a:solidFill>
                  <a:srgbClr val="646F7E"/>
                </a:solidFill>
                <a:latin typeface="Microsoft YaHei"/>
              </a:rPr>
              <a:t>gment、仿射</a:t>
            </a:r>
            <a:r>
              <a:rPr sz="1600" b="0" dirty="0">
                <a:solidFill>
                  <a:srgbClr val="646F7E"/>
                </a:solidFill>
                <a:latin typeface="Microsoft YaHei"/>
              </a:rPr>
              <a:t>、</a:t>
            </a:r>
            <a:endParaRPr lang="en-US" sz="1600" b="0" dirty="0">
              <a:solidFill>
                <a:srgbClr val="646F7E"/>
              </a:solidFill>
              <a:latin typeface="Microsoft YaHei"/>
            </a:endParaRPr>
          </a:p>
          <a:p>
            <a:r>
              <a:rPr sz="1600" b="0" dirty="0" err="1">
                <a:solidFill>
                  <a:srgbClr val="646F7E"/>
                </a:solidFill>
                <a:latin typeface="Microsoft YaHei"/>
              </a:rPr>
              <a:t>透视、颜色扰动</a:t>
            </a:r>
            <a:endParaRPr sz="1600" b="0" dirty="0">
              <a:solidFill>
                <a:srgbClr val="646F7E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4389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2039112"/>
            <a:ext cx="164592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100" b="1">
                <a:solidFill>
                  <a:srgbClr val="D8AA36"/>
                </a:solidFill>
                <a:latin typeface="Microsoft YaHei"/>
              </a:rPr>
              <a:t>优化策略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4988" y="2121408"/>
            <a:ext cx="2907912" cy="52937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600" b="0" dirty="0" err="1">
                <a:solidFill>
                  <a:srgbClr val="646F7E"/>
                </a:solidFill>
                <a:latin typeface="Microsoft YaHei"/>
              </a:rPr>
              <a:t>AdamW、Label</a:t>
            </a:r>
            <a:r>
              <a:rPr sz="1600" b="0" dirty="0">
                <a:solidFill>
                  <a:srgbClr val="646F7E"/>
                </a:solidFill>
                <a:latin typeface="Microsoft YaHei"/>
              </a:rPr>
              <a:t> Smoothing、</a:t>
            </a:r>
            <a:endParaRPr lang="en-US" sz="1600" b="0" dirty="0">
              <a:solidFill>
                <a:srgbClr val="646F7E"/>
              </a:solidFill>
              <a:latin typeface="Microsoft YaHei"/>
            </a:endParaRPr>
          </a:p>
          <a:p>
            <a:r>
              <a:rPr sz="1600" b="0" dirty="0">
                <a:solidFill>
                  <a:srgbClr val="646F7E"/>
                </a:solidFill>
                <a:latin typeface="Microsoft YaHei"/>
              </a:rPr>
              <a:t>Dropout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55848"/>
            <a:ext cx="4389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3520440"/>
            <a:ext cx="164592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100" b="1">
                <a:solidFill>
                  <a:srgbClr val="004B8D"/>
                </a:solidFill>
                <a:latin typeface="Microsoft YaHei"/>
              </a:rPr>
              <a:t>指标体系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38728"/>
            <a:ext cx="2002536" cy="52937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600" b="0" dirty="0">
                <a:solidFill>
                  <a:srgbClr val="646F7E"/>
                </a:solidFill>
                <a:latin typeface="Microsoft YaHei"/>
              </a:rPr>
              <a:t>Top-1、Top-3、</a:t>
            </a:r>
            <a:endParaRPr lang="en-US" sz="1600" b="0" dirty="0">
              <a:solidFill>
                <a:srgbClr val="646F7E"/>
              </a:solidFill>
              <a:latin typeface="Microsoft YaHei"/>
            </a:endParaRPr>
          </a:p>
          <a:p>
            <a:r>
              <a:rPr sz="1600" b="0" dirty="0">
                <a:solidFill>
                  <a:srgbClr val="646F7E"/>
                </a:solidFill>
                <a:latin typeface="Microsoft YaHei"/>
              </a:rPr>
              <a:t>Macro-F1、混淆矩阵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55848"/>
            <a:ext cx="43891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3520440"/>
            <a:ext cx="164592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100" b="1">
                <a:solidFill>
                  <a:srgbClr val="D8AA36"/>
                </a:solidFill>
                <a:latin typeface="Microsoft YaHei"/>
              </a:rPr>
              <a:t>产物输出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538728"/>
            <a:ext cx="1803442" cy="77559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600" b="0" dirty="0">
                <a:solidFill>
                  <a:srgbClr val="646F7E"/>
                </a:solidFill>
                <a:latin typeface="Microsoft YaHei"/>
              </a:rPr>
              <a:t>best checkpoint、</a:t>
            </a:r>
            <a:endParaRPr lang="en-US" sz="1600" b="0" dirty="0">
              <a:solidFill>
                <a:srgbClr val="646F7E"/>
              </a:solidFill>
              <a:latin typeface="Microsoft YaHei"/>
            </a:endParaRPr>
          </a:p>
          <a:p>
            <a:r>
              <a:rPr sz="1600" b="0" dirty="0" err="1">
                <a:solidFill>
                  <a:srgbClr val="646F7E"/>
                </a:solidFill>
                <a:latin typeface="Microsoft YaHei"/>
              </a:rPr>
              <a:t>history、report</a:t>
            </a:r>
            <a:r>
              <a:rPr sz="1600" b="0" dirty="0">
                <a:solidFill>
                  <a:srgbClr val="646F7E"/>
                </a:solidFill>
                <a:latin typeface="Microsoft YaHei"/>
              </a:rPr>
              <a:t>、</a:t>
            </a:r>
            <a:endParaRPr lang="en-US" sz="1600" b="0" dirty="0">
              <a:solidFill>
                <a:srgbClr val="646F7E"/>
              </a:solidFill>
              <a:latin typeface="Microsoft YaHei"/>
            </a:endParaRPr>
          </a:p>
          <a:p>
            <a:r>
              <a:rPr sz="1600" b="0" dirty="0">
                <a:solidFill>
                  <a:srgbClr val="646F7E"/>
                </a:solidFill>
                <a:latin typeface="Microsoft YaHei"/>
              </a:rPr>
              <a:t>model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589" y="5269484"/>
            <a:ext cx="100584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600" b="0" dirty="0" err="1">
                <a:solidFill>
                  <a:srgbClr val="646F7E"/>
                </a:solidFill>
                <a:latin typeface="Microsoft YaHei"/>
              </a:rPr>
              <a:t>训练命令：python</a:t>
            </a:r>
            <a:r>
              <a:rPr sz="1600" b="0" dirty="0">
                <a:solidFill>
                  <a:srgbClr val="646F7E"/>
                </a:solidFill>
                <a:latin typeface="Microsoft YaHei"/>
              </a:rPr>
              <a:t> model\train_model.py --dataset </a:t>
            </a:r>
            <a:r>
              <a:rPr sz="1600" b="0" dirty="0" err="1">
                <a:solidFill>
                  <a:srgbClr val="646F7E"/>
                </a:solidFill>
                <a:latin typeface="Microsoft YaHei"/>
              </a:rPr>
              <a:t>dataset_viewpoint</a:t>
            </a:r>
            <a:r>
              <a:rPr sz="1600" b="0" dirty="0">
                <a:solidFill>
                  <a:srgbClr val="646F7E"/>
                </a:solidFill>
                <a:latin typeface="Microsoft YaHei"/>
              </a:rPr>
              <a:t> --arch efficientnet_b0 --pretrained --freeze-backbone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07/16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PREPROCESS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96926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600" b="1">
                <a:solidFill>
                  <a:srgbClr val="121A2A"/>
                </a:solidFill>
                <a:latin typeface="Microsoft YaHei"/>
              </a:rPr>
              <a:t>识别准确率的关键：前端一致性裁剪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170432"/>
            <a:ext cx="713232" cy="54864"/>
          </a:xfrm>
          <a:prstGeom prst="rect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92354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800" b="0">
                <a:solidFill>
                  <a:srgbClr val="646F7E"/>
                </a:solidFill>
                <a:latin typeface="Microsoft YaHei"/>
              </a:rPr>
              <a:t>不把整张背景图直接送进分类模型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783080"/>
            <a:ext cx="420624" cy="420624"/>
          </a:xfrm>
          <a:prstGeom prst="ellipse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56231"/>
            <a:ext cx="42062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764792"/>
            <a:ext cx="256032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121A2A"/>
                </a:solidFill>
                <a:latin typeface="Microsoft YaHei"/>
              </a:rPr>
              <a:t>方向修正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093976"/>
            <a:ext cx="329184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600" b="0">
                <a:solidFill>
                  <a:srgbClr val="646F7E"/>
                </a:solidFill>
                <a:latin typeface="Microsoft YaHei"/>
              </a:rPr>
              <a:t>处理手机照片 EXIF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06040"/>
            <a:ext cx="420624" cy="420624"/>
          </a:xfrm>
          <a:prstGeom prst="ellipse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679192"/>
            <a:ext cx="42062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587752"/>
            <a:ext cx="256032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121A2A"/>
                </a:solidFill>
                <a:latin typeface="Microsoft YaHei"/>
              </a:rPr>
              <a:t>颜色定位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916936"/>
            <a:ext cx="329184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600" b="0">
                <a:solidFill>
                  <a:srgbClr val="646F7E"/>
                </a:solidFill>
                <a:latin typeface="Microsoft YaHei"/>
              </a:rPr>
              <a:t>寻找黄色警示主体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429000"/>
            <a:ext cx="420624" cy="420624"/>
          </a:xfrm>
          <a:prstGeom prst="ellipse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502152"/>
            <a:ext cx="42062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410712"/>
            <a:ext cx="256032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121A2A"/>
                </a:solidFill>
                <a:latin typeface="Microsoft YaHei"/>
              </a:rPr>
              <a:t>边框校验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739896"/>
            <a:ext cx="329184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600" b="0">
                <a:solidFill>
                  <a:srgbClr val="646F7E"/>
                </a:solidFill>
                <a:latin typeface="Microsoft YaHei"/>
              </a:rPr>
              <a:t>需要黑色边框/图案支撑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251960"/>
            <a:ext cx="420624" cy="420624"/>
          </a:xfrm>
          <a:prstGeom prst="ellipse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325112"/>
            <a:ext cx="42062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233672"/>
            <a:ext cx="256032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121A2A"/>
                </a:solidFill>
                <a:latin typeface="Microsoft YaHei"/>
              </a:rPr>
              <a:t>方形裁剪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562856"/>
            <a:ext cx="329184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600" b="0">
                <a:solidFill>
                  <a:srgbClr val="646F7E"/>
                </a:solidFill>
                <a:latin typeface="Microsoft YaHei"/>
              </a:rPr>
              <a:t>保留标志主体和少量留白</a:t>
            </a:r>
          </a:p>
        </p:txBody>
      </p:sp>
      <p:pic>
        <p:nvPicPr>
          <p:cNvPr id="23" name="Picture 22" descr="water_hazard_photo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34515"/>
            <a:ext cx="4206240" cy="236601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37960" y="4480560"/>
            <a:ext cx="411480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2000" b="1">
                <a:solidFill>
                  <a:srgbClr val="004B8D"/>
                </a:solidFill>
                <a:latin typeface="Microsoft YaHei"/>
              </a:rPr>
              <a:t>裁剪逻辑避免背景黄光斑误导模型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08/16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96926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600" b="1">
                <a:solidFill>
                  <a:srgbClr val="121A2A"/>
                </a:solidFill>
                <a:latin typeface="Microsoft YaHei"/>
              </a:rPr>
              <a:t>Python 前端：更适合现场演示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170432"/>
            <a:ext cx="713232" cy="54864"/>
          </a:xfrm>
          <a:prstGeom prst="rect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92354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800" b="0">
                <a:solidFill>
                  <a:srgbClr val="646F7E"/>
                </a:solidFill>
                <a:latin typeface="Microsoft YaHei"/>
              </a:rPr>
              <a:t>页面轻量，模型在服务端加载和推理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32461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103120"/>
            <a:ext cx="2560320" cy="292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500" b="1">
                <a:solidFill>
                  <a:srgbClr val="004B8D"/>
                </a:solidFill>
                <a:latin typeface="Microsoft YaHei"/>
              </a:rPr>
              <a:t>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70048"/>
            <a:ext cx="2878032" cy="8115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运行</a:t>
            </a:r>
            <a:r>
              <a:rPr sz="1400" dirty="0"/>
              <a:t> start_python_frontend.ps1</a:t>
            </a:r>
          </a:p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清理旧端口服务</a:t>
            </a:r>
            <a:endParaRPr sz="1400" dirty="0"/>
          </a:p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监听</a:t>
            </a:r>
            <a:r>
              <a:rPr sz="1400" dirty="0"/>
              <a:t> 127.0.0.1:7860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2461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103120"/>
            <a:ext cx="2560320" cy="292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500" b="1">
                <a:solidFill>
                  <a:srgbClr val="D8AA36"/>
                </a:solidFill>
                <a:latin typeface="Microsoft YaHei"/>
              </a:rPr>
              <a:t>加载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70048"/>
            <a:ext cx="2970493" cy="8115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读取</a:t>
            </a:r>
            <a:r>
              <a:rPr sz="1400" dirty="0"/>
              <a:t> best_danger_sign_model.pt</a:t>
            </a:r>
          </a:p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构建</a:t>
            </a:r>
            <a:r>
              <a:rPr sz="1400" dirty="0"/>
              <a:t> EfficientNet-B0</a:t>
            </a:r>
          </a:p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模型切换</a:t>
            </a:r>
            <a:r>
              <a:rPr sz="1400" dirty="0"/>
              <a:t> eval </a:t>
            </a:r>
            <a:r>
              <a:rPr sz="1400" dirty="0" err="1"/>
              <a:t>模式</a:t>
            </a:r>
            <a:endParaRPr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8119872" y="1828800"/>
            <a:ext cx="32461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103120"/>
            <a:ext cx="2560320" cy="292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500" b="1">
                <a:solidFill>
                  <a:srgbClr val="B91C1C"/>
                </a:solidFill>
                <a:latin typeface="Microsoft YaHei"/>
              </a:rPr>
              <a:t>推理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670048"/>
            <a:ext cx="1821140" cy="8115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POST /</a:t>
            </a:r>
            <a:r>
              <a:rPr sz="1400" dirty="0" err="1"/>
              <a:t>api</a:t>
            </a:r>
            <a:r>
              <a:rPr sz="1400" dirty="0"/>
              <a:t>/predict</a:t>
            </a:r>
          </a:p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返回</a:t>
            </a:r>
            <a:r>
              <a:rPr sz="1400" dirty="0"/>
              <a:t> Top-5 </a:t>
            </a:r>
            <a:r>
              <a:rPr sz="1400" dirty="0" err="1"/>
              <a:t>置信度</a:t>
            </a:r>
            <a:endParaRPr sz="1400" dirty="0"/>
          </a:p>
          <a:p>
            <a:pPr>
              <a:spcAft>
                <a:spcPts val="500"/>
              </a:spcAft>
              <a:defRPr sz="18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展示风险等级和建议</a:t>
            </a:r>
            <a:endParaRPr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09/16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96926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600" b="1">
                <a:solidFill>
                  <a:srgbClr val="121A2A"/>
                </a:solidFill>
                <a:latin typeface="Microsoft YaHei"/>
              </a:rPr>
              <a:t>实验结果：指标稳定，演示样例可复现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170432"/>
            <a:ext cx="713232" cy="54864"/>
          </a:xfrm>
          <a:prstGeom prst="rect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92354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800" b="0">
                <a:solidFill>
                  <a:srgbClr val="646F7E"/>
                </a:solidFill>
                <a:latin typeface="Microsoft YaHei"/>
              </a:rPr>
              <a:t>验证集、独立测试集和前端测试照片形成三重验证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68680" y="1828800"/>
          <a:ext cx="60350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60920" y="1874519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0" y="2057400"/>
            <a:ext cx="146304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600" b="0">
                <a:solidFill>
                  <a:srgbClr val="646F7E"/>
                </a:solidFill>
                <a:latin typeface="Microsoft YaHei"/>
              </a:rPr>
              <a:t>Best Epoch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965960"/>
            <a:ext cx="731520" cy="32918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800" b="1">
                <a:solidFill>
                  <a:srgbClr val="004B8D"/>
                </a:solidFill>
                <a:latin typeface="Microsoft YaHei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306324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0" y="3246120"/>
            <a:ext cx="173736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600" b="0">
                <a:solidFill>
                  <a:srgbClr val="646F7E"/>
                </a:solidFill>
                <a:latin typeface="Microsoft YaHei"/>
              </a:rPr>
              <a:t>前端照片测试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154680"/>
            <a:ext cx="1097280" cy="32918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700" b="1">
                <a:solidFill>
                  <a:srgbClr val="D8AA36"/>
                </a:solidFill>
                <a:latin typeface="Microsoft YaHei"/>
              </a:rPr>
              <a:t>30/30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25196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4434840"/>
            <a:ext cx="146304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600" b="0">
                <a:solidFill>
                  <a:srgbClr val="646F7E"/>
                </a:solidFill>
                <a:latin typeface="Microsoft YaHei"/>
              </a:rPr>
              <a:t>推理后端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343400"/>
            <a:ext cx="1371600" cy="32918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500" b="1">
                <a:solidFill>
                  <a:srgbClr val="0F765E"/>
                </a:solidFill>
                <a:latin typeface="Microsoft YaHei"/>
              </a:rPr>
              <a:t>PyTorch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96926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600" b="1">
                <a:solidFill>
                  <a:srgbClr val="121A2A"/>
                </a:solidFill>
                <a:latin typeface="Microsoft YaHei"/>
              </a:rPr>
              <a:t>现场演示路径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170432"/>
            <a:ext cx="713232" cy="54864"/>
          </a:xfrm>
          <a:prstGeom prst="rect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92354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800" b="0">
                <a:solidFill>
                  <a:srgbClr val="646F7E"/>
                </a:solidFill>
                <a:latin typeface="Microsoft YaHei"/>
              </a:rPr>
              <a:t>按这个顺序演示，最容易说明系统不是静态页面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" cy="32004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700" b="1">
                <a:solidFill>
                  <a:srgbClr val="D8AA36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801368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200" b="1">
                <a:solidFill>
                  <a:srgbClr val="121A2A"/>
                </a:solidFill>
                <a:latin typeface="Microsoft YaHei"/>
              </a:rPr>
              <a:t>启动服务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1828800"/>
            <a:ext cx="722376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>
                <a:solidFill>
                  <a:srgbClr val="646F7E"/>
                </a:solidFill>
                <a:latin typeface="Microsoft YaHei"/>
              </a:rPr>
              <a:t>powershell -ExecutionPolicy Bypass -File python_frontend\start_python_frontend.ps1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457200" cy="32004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700" b="1">
                <a:solidFill>
                  <a:srgbClr val="D8AA36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761488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200" b="1">
                <a:solidFill>
                  <a:srgbClr val="121A2A"/>
                </a:solidFill>
                <a:latin typeface="Microsoft YaHei"/>
              </a:rPr>
              <a:t>检查模型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788920"/>
            <a:ext cx="722376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>
                <a:solidFill>
                  <a:srgbClr val="646F7E"/>
                </a:solidFill>
                <a:latin typeface="Microsoft YaHei"/>
              </a:rPr>
              <a:t>http://127.0.0.1:7860/api/status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57200" cy="32004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700" b="1">
                <a:solidFill>
                  <a:srgbClr val="D8AA36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721607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200" b="1">
                <a:solidFill>
                  <a:srgbClr val="121A2A"/>
                </a:solidFill>
                <a:latin typeface="Microsoft YaHei"/>
              </a:rPr>
              <a:t>上传图片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3749039"/>
            <a:ext cx="722376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>
                <a:solidFill>
                  <a:srgbClr val="646F7E"/>
                </a:solidFill>
                <a:latin typeface="Microsoft YaHei"/>
              </a:rPr>
              <a:t>选择 test_inputs/frontend_photos 下的测试图片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457200" cy="32004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700" b="1">
                <a:solidFill>
                  <a:srgbClr val="D8AA36"/>
                </a:solidFill>
                <a:latin typeface="Microsoft Ya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681728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200" b="1">
                <a:solidFill>
                  <a:srgbClr val="121A2A"/>
                </a:solidFill>
                <a:latin typeface="Microsoft YaHei"/>
              </a:rPr>
              <a:t>摄像头识别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4709160"/>
            <a:ext cx="722376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>
                <a:solidFill>
                  <a:srgbClr val="646F7E"/>
                </a:solidFill>
                <a:latin typeface="Microsoft YaHei"/>
              </a:rPr>
              <a:t>开启摄像头后单帧或实时识别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96926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600" b="1">
                <a:solidFill>
                  <a:srgbClr val="121A2A"/>
                </a:solidFill>
                <a:latin typeface="Microsoft YaHei"/>
              </a:rPr>
              <a:t>别人电脑如何运行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170432"/>
            <a:ext cx="713232" cy="54864"/>
          </a:xfrm>
          <a:prstGeom prst="rect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92354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800" b="0">
                <a:solidFill>
                  <a:srgbClr val="646F7E"/>
                </a:solidFill>
                <a:latin typeface="Microsoft YaHei"/>
              </a:rPr>
              <a:t>复制项目、安装依赖、启动 Python 前端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2971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121408"/>
            <a:ext cx="22860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1">
                <a:solidFill>
                  <a:srgbClr val="004B8D"/>
                </a:solidFill>
                <a:latin typeface="Microsoft YaHei"/>
              </a:rPr>
              <a:t>复制项目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70048"/>
            <a:ext cx="2855910" cy="8115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保留</a:t>
            </a:r>
            <a:r>
              <a:rPr sz="1400" dirty="0"/>
              <a:t> </a:t>
            </a:r>
            <a:r>
              <a:rPr sz="1400" dirty="0" err="1"/>
              <a:t>python_frontend</a:t>
            </a:r>
            <a:endParaRPr sz="1400" dirty="0"/>
          </a:p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保留</a:t>
            </a:r>
            <a:r>
              <a:rPr sz="1400" dirty="0"/>
              <a:t> model/</a:t>
            </a:r>
            <a:r>
              <a:rPr sz="1400" dirty="0" err="1"/>
              <a:t>artifacts_viewpoint</a:t>
            </a:r>
            <a:endParaRPr sz="1400" dirty="0"/>
          </a:p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保留</a:t>
            </a:r>
            <a:r>
              <a:rPr sz="1400" dirty="0"/>
              <a:t> app/assets/signs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2971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2121408"/>
            <a:ext cx="22860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1">
                <a:solidFill>
                  <a:srgbClr val="D8AA36"/>
                </a:solidFill>
                <a:latin typeface="Microsoft YaHei"/>
              </a:rPr>
              <a:t>安装依赖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670048"/>
            <a:ext cx="2539221" cy="109106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Python 3.10-3.12 </a:t>
            </a:r>
            <a:r>
              <a:rPr sz="1400" dirty="0" err="1"/>
              <a:t>推荐</a:t>
            </a:r>
            <a:endParaRPr sz="1400" dirty="0"/>
          </a:p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pip install torch </a:t>
            </a:r>
            <a:r>
              <a:rPr sz="1400" dirty="0" err="1"/>
              <a:t>torchvision</a:t>
            </a:r>
            <a:endParaRPr lang="en-US" sz="1400" dirty="0"/>
          </a:p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 pillow </a:t>
            </a:r>
            <a:r>
              <a:rPr sz="1400" dirty="0" err="1"/>
              <a:t>numpy</a:t>
            </a:r>
            <a:endParaRPr sz="1400" dirty="0"/>
          </a:p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CPU </a:t>
            </a:r>
            <a:r>
              <a:rPr sz="1400" dirty="0" err="1"/>
              <a:t>环境可运行</a:t>
            </a:r>
            <a:endParaRPr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8275320" y="1828800"/>
            <a:ext cx="2971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2121408"/>
            <a:ext cx="22860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1">
                <a:solidFill>
                  <a:srgbClr val="B91C1C"/>
                </a:solidFill>
                <a:latin typeface="Microsoft YaHei"/>
              </a:rPr>
              <a:t>启动验证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670048"/>
            <a:ext cx="1848391" cy="811504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打开</a:t>
            </a:r>
            <a:r>
              <a:rPr sz="1400" dirty="0"/>
              <a:t> 127.0.0.1:7860</a:t>
            </a:r>
          </a:p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访问</a:t>
            </a:r>
            <a:r>
              <a:rPr sz="1400" dirty="0"/>
              <a:t> /</a:t>
            </a:r>
            <a:r>
              <a:rPr sz="1400" dirty="0" err="1"/>
              <a:t>api</a:t>
            </a:r>
            <a:r>
              <a:rPr sz="1400" dirty="0"/>
              <a:t>/status</a:t>
            </a:r>
          </a:p>
          <a:p>
            <a:pPr>
              <a:spcAft>
                <a:spcPts val="500"/>
              </a:spcAft>
              <a:defRPr sz="1700">
                <a:solidFill>
                  <a:srgbClr val="646F7E"/>
                </a:solidFill>
                <a:latin typeface="Microsoft YaHei"/>
              </a:defRPr>
            </a:pPr>
            <a:r>
              <a:rPr sz="1400" dirty="0"/>
              <a:t>• </a:t>
            </a:r>
            <a:r>
              <a:rPr sz="1400" dirty="0" err="1"/>
              <a:t>确认</a:t>
            </a:r>
            <a:r>
              <a:rPr sz="1400" dirty="0"/>
              <a:t> loaded=true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05840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2200" b="1">
                <a:solidFill>
                  <a:srgbClr val="004B8D"/>
                </a:solidFill>
                <a:latin typeface="Microsoft YaHei"/>
              </a:rPr>
              <a:t>完整说明已写入 docs/部署到其他电脑运行说明.md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96926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600" b="1">
                <a:solidFill>
                  <a:srgbClr val="121A2A"/>
                </a:solidFill>
                <a:latin typeface="Microsoft YaHei"/>
              </a:rPr>
              <a:t>工程问题与解决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170432"/>
            <a:ext cx="713232" cy="54864"/>
          </a:xfrm>
          <a:prstGeom prst="rect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92354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800" b="0">
                <a:solidFill>
                  <a:srgbClr val="646F7E"/>
                </a:solidFill>
                <a:latin typeface="Microsoft YaHei"/>
              </a:rPr>
              <a:t>项目不仅是训练模型，还解决了前端部署和真实输入一致性问题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03704"/>
            <a:ext cx="98755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301752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121A2A"/>
                </a:solidFill>
                <a:latin typeface="Microsoft YaHei"/>
              </a:rPr>
              <a:t>浏览器 ONNX 加载失败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801368"/>
            <a:ext cx="603504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>
                <a:solidFill>
                  <a:srgbClr val="646F7E"/>
                </a:solidFill>
                <a:latin typeface="Microsoft YaHei"/>
              </a:rPr>
              <a:t>改为 Python 后端加载 .pt 模型，绕开 Web WASM 兼容问题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081528"/>
            <a:ext cx="98755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660904"/>
            <a:ext cx="301752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121A2A"/>
                </a:solidFill>
                <a:latin typeface="Microsoft YaHei"/>
              </a:rPr>
              <a:t>整图输入误判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679192"/>
            <a:ext cx="603504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>
                <a:solidFill>
                  <a:srgbClr val="646F7E"/>
                </a:solidFill>
                <a:latin typeface="Microsoft YaHei"/>
              </a:rPr>
              <a:t>加入黄色主体 + 黑色边框支撑的裁剪逻辑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959352"/>
            <a:ext cx="98755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538728"/>
            <a:ext cx="301752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121A2A"/>
                </a:solidFill>
                <a:latin typeface="Microsoft YaHei"/>
              </a:rPr>
              <a:t>摄像头画面不稳定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557016"/>
            <a:ext cx="603504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>
                <a:solidFill>
                  <a:srgbClr val="646F7E"/>
                </a:solidFill>
                <a:latin typeface="Microsoft YaHei"/>
              </a:rPr>
              <a:t>支持单帧和实时识别，保留置信度用于判断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837176"/>
            <a:ext cx="987552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416552"/>
            <a:ext cx="301752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121A2A"/>
                </a:solidFill>
                <a:latin typeface="Microsoft YaHei"/>
              </a:rPr>
              <a:t>别人电脑复现困难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434840"/>
            <a:ext cx="603504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>
                <a:solidFill>
                  <a:srgbClr val="646F7E"/>
                </a:solidFill>
                <a:latin typeface="Microsoft YaHei"/>
              </a:rPr>
              <a:t>补充完整部署说明和一键启动脚本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96926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600" b="1">
                <a:solidFill>
                  <a:srgbClr val="121A2A"/>
                </a:solidFill>
                <a:latin typeface="Microsoft YaHei"/>
              </a:rPr>
              <a:t>工作量体现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170432"/>
            <a:ext cx="713232" cy="54864"/>
          </a:xfrm>
          <a:prstGeom prst="rect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92354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800" b="0">
                <a:solidFill>
                  <a:srgbClr val="646F7E"/>
                </a:solidFill>
                <a:latin typeface="Microsoft YaHei"/>
              </a:rPr>
              <a:t>从数据、模型、系统和文档四条线完整交付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297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029968"/>
            <a:ext cx="9144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1">
                <a:solidFill>
                  <a:srgbClr val="004B8D"/>
                </a:solidFill>
                <a:latin typeface="Microsoft YaHei"/>
              </a:rPr>
              <a:t>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057400"/>
            <a:ext cx="2871042" cy="56015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 dirty="0" err="1">
                <a:solidFill>
                  <a:srgbClr val="646F7E"/>
                </a:solidFill>
                <a:latin typeface="Microsoft YaHei"/>
              </a:rPr>
              <a:t>基础样本整理、增强数据集</a:t>
            </a:r>
            <a:r>
              <a:rPr sz="1700" b="0" dirty="0">
                <a:solidFill>
                  <a:srgbClr val="646F7E"/>
                </a:solidFill>
                <a:latin typeface="Microsoft YaHei"/>
              </a:rPr>
              <a:t>、</a:t>
            </a:r>
            <a:endParaRPr lang="en-US" sz="1700" b="0" dirty="0">
              <a:solidFill>
                <a:srgbClr val="646F7E"/>
              </a:solidFill>
              <a:latin typeface="Microsoft YaHei"/>
            </a:endParaRPr>
          </a:p>
          <a:p>
            <a:r>
              <a:rPr sz="1700" b="0" dirty="0" err="1">
                <a:solidFill>
                  <a:srgbClr val="646F7E"/>
                </a:solidFill>
                <a:latin typeface="Microsoft YaHei"/>
              </a:rPr>
              <a:t>独立测试集、前端照片集</a:t>
            </a:r>
            <a:endParaRPr sz="1700" b="0" dirty="0">
              <a:solidFill>
                <a:srgbClr val="646F7E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80760" y="1828800"/>
            <a:ext cx="4297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2029968"/>
            <a:ext cx="9144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1">
                <a:solidFill>
                  <a:srgbClr val="D8AA36"/>
                </a:solidFill>
                <a:latin typeface="Microsoft YaHei"/>
              </a:rPr>
              <a:t>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057400"/>
            <a:ext cx="2435026" cy="56015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 dirty="0" err="1">
                <a:solidFill>
                  <a:srgbClr val="646F7E"/>
                </a:solidFill>
                <a:latin typeface="Microsoft YaHei"/>
              </a:rPr>
              <a:t>多架构支持、迁移学习</a:t>
            </a:r>
            <a:r>
              <a:rPr sz="1700" b="0" dirty="0">
                <a:solidFill>
                  <a:srgbClr val="646F7E"/>
                </a:solidFill>
                <a:latin typeface="Microsoft YaHei"/>
              </a:rPr>
              <a:t>、</a:t>
            </a:r>
            <a:endParaRPr lang="en-US" sz="1700" b="0" dirty="0">
              <a:solidFill>
                <a:srgbClr val="646F7E"/>
              </a:solidFill>
              <a:latin typeface="Microsoft YaHei"/>
            </a:endParaRPr>
          </a:p>
          <a:p>
            <a:r>
              <a:rPr sz="1700" b="0" dirty="0" err="1">
                <a:solidFill>
                  <a:srgbClr val="646F7E"/>
                </a:solidFill>
                <a:latin typeface="Microsoft YaHei"/>
              </a:rPr>
              <a:t>训练指标、模型卡片</a:t>
            </a:r>
            <a:endParaRPr sz="1700" b="0" dirty="0">
              <a:solidFill>
                <a:srgbClr val="646F7E"/>
              </a:solidFill>
              <a:latin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4400" y="3337560"/>
            <a:ext cx="4297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538728"/>
            <a:ext cx="9144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1">
                <a:solidFill>
                  <a:srgbClr val="004B8D"/>
                </a:solidFill>
                <a:latin typeface="Microsoft YaHei"/>
              </a:rPr>
              <a:t>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66160"/>
            <a:ext cx="2562305" cy="56015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 dirty="0">
                <a:solidFill>
                  <a:srgbClr val="646F7E"/>
                </a:solidFill>
                <a:latin typeface="Microsoft YaHei"/>
              </a:rPr>
              <a:t>Python </a:t>
            </a:r>
            <a:r>
              <a:rPr sz="1700" b="0" dirty="0" err="1">
                <a:solidFill>
                  <a:srgbClr val="646F7E"/>
                </a:solidFill>
                <a:latin typeface="Microsoft YaHei"/>
              </a:rPr>
              <a:t>前端、API</a:t>
            </a:r>
            <a:r>
              <a:rPr sz="1700" b="0" dirty="0">
                <a:solidFill>
                  <a:srgbClr val="646F7E"/>
                </a:solidFill>
                <a:latin typeface="Microsoft YaHei"/>
              </a:rPr>
              <a:t> </a:t>
            </a:r>
            <a:r>
              <a:rPr sz="1700" b="0" dirty="0" err="1">
                <a:solidFill>
                  <a:srgbClr val="646F7E"/>
                </a:solidFill>
                <a:latin typeface="Microsoft YaHei"/>
              </a:rPr>
              <a:t>接口</a:t>
            </a:r>
            <a:r>
              <a:rPr sz="1700" b="0" dirty="0">
                <a:solidFill>
                  <a:srgbClr val="646F7E"/>
                </a:solidFill>
                <a:latin typeface="Microsoft YaHei"/>
              </a:rPr>
              <a:t>、</a:t>
            </a:r>
            <a:endParaRPr lang="en-US" sz="1700" b="0" dirty="0">
              <a:solidFill>
                <a:srgbClr val="646F7E"/>
              </a:solidFill>
              <a:latin typeface="Microsoft YaHei"/>
            </a:endParaRPr>
          </a:p>
          <a:p>
            <a:r>
              <a:rPr sz="1700" b="0" dirty="0" err="1">
                <a:solidFill>
                  <a:srgbClr val="646F7E"/>
                </a:solidFill>
                <a:latin typeface="Microsoft YaHei"/>
              </a:rPr>
              <a:t>摄像头、实时识别</a:t>
            </a:r>
            <a:endParaRPr sz="1700" b="0" dirty="0">
              <a:solidFill>
                <a:srgbClr val="646F7E"/>
              </a:solidFill>
              <a:latin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80760" y="3337560"/>
            <a:ext cx="4297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8" y="3538728"/>
            <a:ext cx="9144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1">
                <a:solidFill>
                  <a:srgbClr val="D8AA36"/>
                </a:solidFill>
                <a:latin typeface="Microsoft YaHei"/>
              </a:rPr>
              <a:t>文档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566160"/>
            <a:ext cx="2263055" cy="56015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 dirty="0" err="1">
                <a:solidFill>
                  <a:srgbClr val="646F7E"/>
                </a:solidFill>
                <a:latin typeface="Microsoft YaHei"/>
              </a:rPr>
              <a:t>README、技术报告</a:t>
            </a:r>
            <a:r>
              <a:rPr sz="1700" b="0" dirty="0">
                <a:solidFill>
                  <a:srgbClr val="646F7E"/>
                </a:solidFill>
                <a:latin typeface="Microsoft YaHei"/>
              </a:rPr>
              <a:t>、</a:t>
            </a:r>
            <a:endParaRPr lang="en-US" sz="1700" b="0" dirty="0">
              <a:solidFill>
                <a:srgbClr val="646F7E"/>
              </a:solidFill>
              <a:latin typeface="Microsoft YaHei"/>
            </a:endParaRPr>
          </a:p>
          <a:p>
            <a:r>
              <a:rPr sz="1700" b="0" dirty="0" err="1">
                <a:solidFill>
                  <a:srgbClr val="646F7E"/>
                </a:solidFill>
                <a:latin typeface="Microsoft YaHei"/>
              </a:rPr>
              <a:t>部署说明、答辩</a:t>
            </a:r>
            <a:r>
              <a:rPr sz="1700" b="0" dirty="0">
                <a:solidFill>
                  <a:srgbClr val="646F7E"/>
                </a:solidFill>
                <a:latin typeface="Microsoft YaHei"/>
              </a:rPr>
              <a:t> PPT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50292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D8AA36"/>
                </a:solidFill>
                <a:latin typeface="Microsoft YaHe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29184"/>
            <a:ext cx="29260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00" b="1">
                <a:solidFill>
                  <a:srgbClr val="646F7E"/>
                </a:solidFill>
                <a:latin typeface="Microsoft YaHei"/>
              </a:rPr>
              <a:t>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"/>
            <a:ext cx="969264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600" b="1">
                <a:solidFill>
                  <a:srgbClr val="121A2A"/>
                </a:solidFill>
                <a:latin typeface="Microsoft YaHei"/>
              </a:rPr>
              <a:t>不足与后续优化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170432"/>
            <a:ext cx="713232" cy="54864"/>
          </a:xfrm>
          <a:prstGeom prst="rect">
            <a:avLst/>
          </a:prstGeom>
          <a:solidFill>
            <a:srgbClr val="D8A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024128"/>
            <a:ext cx="92354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800" b="0">
                <a:solidFill>
                  <a:srgbClr val="646F7E"/>
                </a:solidFill>
                <a:latin typeface="Microsoft YaHei"/>
              </a:rPr>
              <a:t>当前系统可运行，后续重点是真实场景数据和检测能力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148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D8AA36"/>
                </a:solidFill>
                <a:latin typeface="Microsoft YaHe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192024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121A2A"/>
                </a:solidFill>
                <a:latin typeface="Microsoft YaHei"/>
              </a:rPr>
              <a:t>真实数据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837943"/>
            <a:ext cx="658368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>
                <a:solidFill>
                  <a:srgbClr val="646F7E"/>
                </a:solidFill>
                <a:latin typeface="Microsoft YaHei"/>
              </a:rPr>
              <a:t>继续采集现场拍摄图片，覆盖遮挡、远距离、逆光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41148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D8AA36"/>
                </a:solidFill>
                <a:latin typeface="Microsoft YaHe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33472"/>
            <a:ext cx="192024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121A2A"/>
                </a:solidFill>
                <a:latin typeface="Microsoft YaHei"/>
              </a:rPr>
              <a:t>目标检测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42615"/>
            <a:ext cx="658368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>
                <a:solidFill>
                  <a:srgbClr val="646F7E"/>
                </a:solidFill>
                <a:latin typeface="Microsoft YaHei"/>
              </a:rPr>
              <a:t>从单标志分类扩展到多标志检测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38144"/>
            <a:ext cx="41148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D8AA36"/>
                </a:solidFill>
                <a:latin typeface="Microsoft YaHe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38144"/>
            <a:ext cx="192024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121A2A"/>
                </a:solidFill>
                <a:latin typeface="Microsoft YaHei"/>
              </a:rPr>
              <a:t>实时稳定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447287"/>
            <a:ext cx="658368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>
                <a:solidFill>
                  <a:srgbClr val="646F7E"/>
                </a:solidFill>
                <a:latin typeface="Microsoft YaHei"/>
              </a:rPr>
              <a:t>加入多帧投票、置信度阈值和人工复核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42816"/>
            <a:ext cx="41148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D8AA36"/>
                </a:solidFill>
                <a:latin typeface="Microsoft YaHe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242816"/>
            <a:ext cx="192024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000" b="1">
                <a:solidFill>
                  <a:srgbClr val="121A2A"/>
                </a:solidFill>
                <a:latin typeface="Microsoft YaHei"/>
              </a:rPr>
              <a:t>交付封装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251960"/>
            <a:ext cx="658368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 b="0">
                <a:solidFill>
                  <a:srgbClr val="646F7E"/>
                </a:solidFill>
                <a:latin typeface="Microsoft YaHei"/>
              </a:rPr>
              <a:t>后续可打包为 exe 或 Docker 镜像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646F7E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646F7E"/>
                </a:solidFill>
                <a:latin typeface="Microsoft YaHe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713232"/>
            <a:ext cx="2011680" cy="4114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3800" b="1">
                <a:solidFill>
                  <a:srgbClr val="D8AA36"/>
                </a:solidFill>
                <a:latin typeface="Microsoft YaHei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572768"/>
            <a:ext cx="9629303" cy="139115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4400" b="1" dirty="0" err="1">
                <a:solidFill>
                  <a:srgbClr val="FFFFFF"/>
                </a:solidFill>
                <a:latin typeface="Microsoft YaHei"/>
              </a:rPr>
              <a:t>完成了一套可训练、可评估、可部署</a:t>
            </a:r>
            <a:r>
              <a:rPr sz="4400" b="1" dirty="0">
                <a:solidFill>
                  <a:srgbClr val="FFFFFF"/>
                </a:solidFill>
                <a:latin typeface="Microsoft YaHei"/>
              </a:rPr>
              <a:t>、</a:t>
            </a:r>
            <a:endParaRPr lang="en-US" sz="4400" b="1" dirty="0">
              <a:solidFill>
                <a:srgbClr val="FFFFFF"/>
              </a:solidFill>
              <a:latin typeface="Microsoft YaHei"/>
            </a:endParaRPr>
          </a:p>
          <a:p>
            <a:r>
              <a:rPr sz="4400" b="1" dirty="0" err="1">
                <a:solidFill>
                  <a:srgbClr val="FFFFFF"/>
                </a:solidFill>
                <a:latin typeface="Microsoft YaHei"/>
              </a:rPr>
              <a:t>可演示的危险标志识别系统</a:t>
            </a:r>
            <a:endParaRPr sz="44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235406"/>
            <a:ext cx="9052560" cy="17830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C9D8EA"/>
                </a:solidFill>
                <a:latin typeface="Microsoft YaHei"/>
              </a:defRPr>
            </a:pPr>
            <a:r>
              <a:t>• 模型：EfficientNet-B0 迁移学习，独立测试 Top-1 = 0.9975</a:t>
            </a:r>
          </a:p>
          <a:p>
            <a:pPr>
              <a:spcAft>
                <a:spcPts val="800"/>
              </a:spcAft>
              <a:defRPr sz="2100">
                <a:solidFill>
                  <a:srgbClr val="C9D8EA"/>
                </a:solidFill>
                <a:latin typeface="Microsoft YaHei"/>
              </a:defRPr>
            </a:pPr>
            <a:r>
              <a:t>• 系统：Python 前端启动自动加载训练模型</a:t>
            </a:r>
          </a:p>
          <a:p>
            <a:pPr>
              <a:spcAft>
                <a:spcPts val="800"/>
              </a:spcAft>
              <a:defRPr sz="2100">
                <a:solidFill>
                  <a:srgbClr val="C9D8EA"/>
                </a:solidFill>
                <a:latin typeface="Microsoft YaHei"/>
              </a:defRPr>
            </a:pPr>
            <a:r>
              <a:t>• 交付：代码、模型、README、技术报告、部署说明、答辩 PPT</a:t>
            </a:r>
          </a:p>
          <a:p>
            <a:pPr>
              <a:spcAft>
                <a:spcPts val="800"/>
              </a:spcAft>
              <a:defRPr sz="2100">
                <a:solidFill>
                  <a:srgbClr val="C9D8EA"/>
                </a:solidFill>
                <a:latin typeface="Microsoft YaHei"/>
              </a:defRPr>
            </a:pPr>
            <a:r>
              <a:t>• 演示：图片上传、拖拽识别、摄像头单帧和实时识别</a:t>
            </a:r>
          </a:p>
        </p:txBody>
      </p:sp>
      <p:pic>
        <p:nvPicPr>
          <p:cNvPr id="5" name="Picture 4" descr="explo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349240"/>
            <a:ext cx="603504" cy="603504"/>
          </a:xfrm>
          <a:prstGeom prst="rect">
            <a:avLst/>
          </a:prstGeom>
        </p:spPr>
      </p:pic>
      <p:pic>
        <p:nvPicPr>
          <p:cNvPr id="6" name="Picture 5" descr="falling_obj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5349240"/>
            <a:ext cx="603504" cy="603504"/>
          </a:xfrm>
          <a:prstGeom prst="rect">
            <a:avLst/>
          </a:prstGeom>
        </p:spPr>
      </p:pic>
      <p:pic>
        <p:nvPicPr>
          <p:cNvPr id="7" name="Picture 6" descr="falling_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5349240"/>
            <a:ext cx="603504" cy="603504"/>
          </a:xfrm>
          <a:prstGeom prst="rect">
            <a:avLst/>
          </a:prstGeom>
        </p:spPr>
      </p:pic>
      <p:pic>
        <p:nvPicPr>
          <p:cNvPr id="8" name="Picture 7" descr="flamm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824" y="5349240"/>
            <a:ext cx="603504" cy="603504"/>
          </a:xfrm>
          <a:prstGeom prst="rect">
            <a:avLst/>
          </a:prstGeom>
        </p:spPr>
      </p:pic>
      <p:pic>
        <p:nvPicPr>
          <p:cNvPr id="9" name="Picture 8" descr="water_haz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3632" y="5349240"/>
            <a:ext cx="603504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0" y="5394960"/>
            <a:ext cx="4389120" cy="32918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2500" b="1">
                <a:solidFill>
                  <a:srgbClr val="D8AA36"/>
                </a:solidFill>
                <a:latin typeface="Microsoft YaHei"/>
              </a:rPr>
              <a:t>谢谢，请各位老师批评指正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384048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900" b="0">
                <a:solidFill>
                  <a:srgbClr val="B7C7D9"/>
                </a:solidFill>
                <a:latin typeface="Microsoft YaHei"/>
              </a:rPr>
              <a:t>危险标志识别系统 · Python 前端推理版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603504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00" b="0">
                <a:solidFill>
                  <a:srgbClr val="B7C7D9"/>
                </a:solidFill>
                <a:latin typeface="Microsoft YaHe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714</Words>
  <Application>Microsoft Office PowerPoint</Application>
  <PresentationFormat>宽屏</PresentationFormat>
  <Paragraphs>259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宗骏 李</cp:lastModifiedBy>
  <cp:revision>2</cp:revision>
  <dcterms:created xsi:type="dcterms:W3CDTF">2013-01-27T09:14:16Z</dcterms:created>
  <dcterms:modified xsi:type="dcterms:W3CDTF">2026-06-21T06:41:25Z</dcterms:modified>
  <cp:category/>
</cp:coreProperties>
</file>